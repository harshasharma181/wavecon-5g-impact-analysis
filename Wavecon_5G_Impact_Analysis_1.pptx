
<file path=[Content_Types].xml><?xml version="1.0" encoding="utf-8"?>
<Types xmlns="http://schemas.openxmlformats.org/package/2006/content-types">
  <Default Extension="m4a" ContentType="audi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3" d="100"/>
          <a:sy n="83" d="100"/>
        </p:scale>
        <p:origin x="65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Before 5G (₹M)</c:v>
                </c:pt>
              </c:strCache>
            </c:strRef>
          </c:tx>
          <c:spPr>
            <a:solidFill>
              <a:srgbClr val="D9C9F0"/>
            </a:solidFill>
            <a:effectLst/>
          </c:spPr>
          <c:invertIfNegative val="0"/>
          <c:cat>
            <c:strRef>
              <c:f>Sheet1!$A$2:$A$6</c:f>
              <c:strCache>
                <c:ptCount val="5"/>
                <c:pt idx="0">
                  <c:v>Mumbai</c:v>
                </c:pt>
                <c:pt idx="1">
                  <c:v>Delhi</c:v>
                </c:pt>
                <c:pt idx="2">
                  <c:v>Kolkata</c:v>
                </c:pt>
                <c:pt idx="3">
                  <c:v>Bangalore</c:v>
                </c:pt>
                <c:pt idx="4">
                  <c:v>Chennai</c:v>
                </c:pt>
              </c:strCache>
            </c:strRef>
          </c:cat>
          <c:val>
            <c:numRef>
              <c:f>Sheet1!$B$2:$B$6</c:f>
              <c:numCache>
                <c:formatCode>General</c:formatCode>
                <c:ptCount val="5"/>
                <c:pt idx="0">
                  <c:v>2444</c:v>
                </c:pt>
                <c:pt idx="1">
                  <c:v>1964</c:v>
                </c:pt>
                <c:pt idx="2">
                  <c:v>1926</c:v>
                </c:pt>
                <c:pt idx="3">
                  <c:v>1687</c:v>
                </c:pt>
                <c:pt idx="4">
                  <c:v>1501</c:v>
                </c:pt>
              </c:numCache>
            </c:numRef>
          </c:val>
          <c:extLst>
            <c:ext xmlns:c16="http://schemas.microsoft.com/office/drawing/2014/chart" uri="{C3380CC4-5D6E-409C-BE32-E72D297353CC}">
              <c16:uniqueId val="{00000000-0889-45D3-8A79-2733D2EFE958}"/>
            </c:ext>
          </c:extLst>
        </c:ser>
        <c:ser>
          <c:idx val="1"/>
          <c:order val="1"/>
          <c:tx>
            <c:strRef>
              <c:f>Sheet1!$C$1</c:f>
              <c:strCache>
                <c:ptCount val="1"/>
                <c:pt idx="0">
                  <c:v>After 5G (₹M)</c:v>
                </c:pt>
              </c:strCache>
            </c:strRef>
          </c:tx>
          <c:spPr>
            <a:solidFill>
              <a:srgbClr val="1E8A6E"/>
            </a:solidFill>
            <a:effectLst/>
          </c:spPr>
          <c:invertIfNegative val="0"/>
          <c:cat>
            <c:strRef>
              <c:f>Sheet1!$A$2:$A$6</c:f>
              <c:strCache>
                <c:ptCount val="5"/>
                <c:pt idx="0">
                  <c:v>Mumbai</c:v>
                </c:pt>
                <c:pt idx="1">
                  <c:v>Delhi</c:v>
                </c:pt>
                <c:pt idx="2">
                  <c:v>Kolkata</c:v>
                </c:pt>
                <c:pt idx="3">
                  <c:v>Bangalore</c:v>
                </c:pt>
                <c:pt idx="4">
                  <c:v>Chennai</c:v>
                </c:pt>
              </c:strCache>
            </c:strRef>
          </c:cat>
          <c:val>
            <c:numRef>
              <c:f>Sheet1!$C$2:$C$6</c:f>
              <c:numCache>
                <c:formatCode>General</c:formatCode>
                <c:ptCount val="5"/>
                <c:pt idx="0">
                  <c:v>2452</c:v>
                </c:pt>
                <c:pt idx="1">
                  <c:v>1908</c:v>
                </c:pt>
                <c:pt idx="2">
                  <c:v>1918</c:v>
                </c:pt>
                <c:pt idx="3">
                  <c:v>1699</c:v>
                </c:pt>
                <c:pt idx="4">
                  <c:v>1462</c:v>
                </c:pt>
              </c:numCache>
            </c:numRef>
          </c:val>
          <c:extLst>
            <c:ext xmlns:c16="http://schemas.microsoft.com/office/drawing/2014/chart" uri="{C3380CC4-5D6E-409C-BE32-E72D297353CC}">
              <c16:uniqueId val="{00000001-0889-45D3-8A79-2733D2EFE958}"/>
            </c:ext>
          </c:extLst>
        </c:ser>
        <c:dLbls>
          <c:showLegendKey val="0"/>
          <c:showVal val="0"/>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2B243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12700" cap="flat">
              <a:solidFill>
                <a:srgbClr val="E7E1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E647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Before 5G (₹M)</c:v>
                </c:pt>
              </c:strCache>
            </c:strRef>
          </c:tx>
          <c:spPr>
            <a:solidFill>
              <a:srgbClr val="D9C9F0"/>
            </a:solidFill>
            <a:effectLst/>
          </c:spPr>
          <c:invertIfNegative val="0"/>
          <c:cat>
            <c:strRef>
              <c:f>Sheet1!$A$2:$A$6</c:f>
              <c:strCache>
                <c:ptCount val="5"/>
                <c:pt idx="0">
                  <c:v>Patna</c:v>
                </c:pt>
                <c:pt idx="1">
                  <c:v>Coimbatore</c:v>
                </c:pt>
                <c:pt idx="2">
                  <c:v>Chandigarh</c:v>
                </c:pt>
                <c:pt idx="3">
                  <c:v>Gurgaon</c:v>
                </c:pt>
                <c:pt idx="4">
                  <c:v>Raipur</c:v>
                </c:pt>
              </c:strCache>
            </c:strRef>
          </c:cat>
          <c:val>
            <c:numRef>
              <c:f>Sheet1!$B$2:$B$6</c:f>
              <c:numCache>
                <c:formatCode>General</c:formatCode>
                <c:ptCount val="5"/>
                <c:pt idx="0">
                  <c:v>487</c:v>
                </c:pt>
                <c:pt idx="1">
                  <c:v>457</c:v>
                </c:pt>
                <c:pt idx="2">
                  <c:v>307</c:v>
                </c:pt>
                <c:pt idx="3">
                  <c:v>271</c:v>
                </c:pt>
                <c:pt idx="4">
                  <c:v>157</c:v>
                </c:pt>
              </c:numCache>
            </c:numRef>
          </c:val>
          <c:extLst>
            <c:ext xmlns:c16="http://schemas.microsoft.com/office/drawing/2014/chart" uri="{C3380CC4-5D6E-409C-BE32-E72D297353CC}">
              <c16:uniqueId val="{00000000-3646-4FFA-B607-AF1E28B5B14B}"/>
            </c:ext>
          </c:extLst>
        </c:ser>
        <c:ser>
          <c:idx val="1"/>
          <c:order val="1"/>
          <c:tx>
            <c:strRef>
              <c:f>Sheet1!$C$1</c:f>
              <c:strCache>
                <c:ptCount val="1"/>
                <c:pt idx="0">
                  <c:v>After 5G (₹M)</c:v>
                </c:pt>
              </c:strCache>
            </c:strRef>
          </c:tx>
          <c:spPr>
            <a:solidFill>
              <a:srgbClr val="C6414B"/>
            </a:solidFill>
            <a:effectLst/>
          </c:spPr>
          <c:invertIfNegative val="0"/>
          <c:cat>
            <c:strRef>
              <c:f>Sheet1!$A$2:$A$6</c:f>
              <c:strCache>
                <c:ptCount val="5"/>
                <c:pt idx="0">
                  <c:v>Patna</c:v>
                </c:pt>
                <c:pt idx="1">
                  <c:v>Coimbatore</c:v>
                </c:pt>
                <c:pt idx="2">
                  <c:v>Chandigarh</c:v>
                </c:pt>
                <c:pt idx="3">
                  <c:v>Gurgaon</c:v>
                </c:pt>
                <c:pt idx="4">
                  <c:v>Raipur</c:v>
                </c:pt>
              </c:strCache>
            </c:strRef>
          </c:cat>
          <c:val>
            <c:numRef>
              <c:f>Sheet1!$C$2:$C$6</c:f>
              <c:numCache>
                <c:formatCode>General</c:formatCode>
                <c:ptCount val="5"/>
                <c:pt idx="0">
                  <c:v>495</c:v>
                </c:pt>
                <c:pt idx="1">
                  <c:v>457</c:v>
                </c:pt>
                <c:pt idx="2">
                  <c:v>305</c:v>
                </c:pt>
                <c:pt idx="3">
                  <c:v>275</c:v>
                </c:pt>
                <c:pt idx="4">
                  <c:v>159</c:v>
                </c:pt>
              </c:numCache>
            </c:numRef>
          </c:val>
          <c:extLst>
            <c:ext xmlns:c16="http://schemas.microsoft.com/office/drawing/2014/chart" uri="{C3380CC4-5D6E-409C-BE32-E72D297353CC}">
              <c16:uniqueId val="{00000001-3646-4FFA-B607-AF1E28B5B14B}"/>
            </c:ext>
          </c:extLst>
        </c:ser>
        <c:dLbls>
          <c:showLegendKey val="0"/>
          <c:showVal val="0"/>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2B243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12700" cap="flat">
              <a:solidFill>
                <a:srgbClr val="E7E1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E647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88961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2.m4a"/><Relationship Id="rId1" Type="http://schemas.microsoft.com/office/2007/relationships/media" Target="../media/media2.m4a"/><Relationship Id="rId5" Type="http://schemas.openxmlformats.org/officeDocument/2006/relationships/image" Target="../media/image1.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1.png"/><Relationship Id="rId2" Type="http://schemas.openxmlformats.org/officeDocument/2006/relationships/audio" Target="../media/media3.m4a"/><Relationship Id="rId1" Type="http://schemas.microsoft.com/office/2007/relationships/media" Target="../media/media3.m4a"/><Relationship Id="rId6" Type="http://schemas.openxmlformats.org/officeDocument/2006/relationships/chart" Target="../charts/chart2.xml"/><Relationship Id="rId5" Type="http://schemas.openxmlformats.org/officeDocument/2006/relationships/chart" Target="../charts/char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4.m4a"/><Relationship Id="rId1" Type="http://schemas.microsoft.com/office/2007/relationships/media" Target="../media/media4.m4a"/><Relationship Id="rId5" Type="http://schemas.openxmlformats.org/officeDocument/2006/relationships/image" Target="../media/image1.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5.m4a"/><Relationship Id="rId1" Type="http://schemas.microsoft.com/office/2007/relationships/media" Target="../media/media5.m4a"/><Relationship Id="rId5" Type="http://schemas.openxmlformats.org/officeDocument/2006/relationships/image" Target="../media/image1.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6.m4a"/><Relationship Id="rId1" Type="http://schemas.microsoft.com/office/2007/relationships/media" Target="../media/media6.m4a"/><Relationship Id="rId5" Type="http://schemas.openxmlformats.org/officeDocument/2006/relationships/image" Target="../media/image1.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7.m4a"/><Relationship Id="rId1" Type="http://schemas.microsoft.com/office/2007/relationships/media" Target="../media/media7.m4a"/><Relationship Id="rId5" Type="http://schemas.openxmlformats.org/officeDocument/2006/relationships/image" Target="../media/image1.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8.m4a"/><Relationship Id="rId1" Type="http://schemas.microsoft.com/office/2007/relationships/media" Target="../media/media8.m4a"/><Relationship Id="rId5" Type="http://schemas.openxmlformats.org/officeDocument/2006/relationships/image" Target="../media/image1.png"/><Relationship Id="rId4"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B1F63"/>
        </a:solidFill>
        <a:effectLst/>
      </p:bgPr>
    </p:bg>
    <p:spTree>
      <p:nvGrpSpPr>
        <p:cNvPr id="1" name=""/>
        <p:cNvGrpSpPr/>
        <p:nvPr/>
      </p:nvGrpSpPr>
      <p:grpSpPr>
        <a:xfrm>
          <a:off x="0" y="0"/>
          <a:ext cx="0" cy="0"/>
          <a:chOff x="0" y="0"/>
          <a:chExt cx="0" cy="0"/>
        </a:xfrm>
      </p:grpSpPr>
      <p:sp>
        <p:nvSpPr>
          <p:cNvPr id="2" name="Shape 0"/>
          <p:cNvSpPr/>
          <p:nvPr/>
        </p:nvSpPr>
        <p:spPr>
          <a:xfrm>
            <a:off x="9966960" y="-1188720"/>
            <a:ext cx="3840480" cy="3840480"/>
          </a:xfrm>
          <a:prstGeom prst="ellipse">
            <a:avLst/>
          </a:prstGeom>
          <a:solidFill>
            <a:srgbClr val="5B2C82">
              <a:alpha val="60000"/>
            </a:srgbClr>
          </a:solidFill>
          <a:ln/>
        </p:spPr>
      </p:sp>
      <p:sp>
        <p:nvSpPr>
          <p:cNvPr id="3" name="Shape 1"/>
          <p:cNvSpPr/>
          <p:nvPr/>
        </p:nvSpPr>
        <p:spPr>
          <a:xfrm>
            <a:off x="-1463040" y="4389120"/>
            <a:ext cx="3291840" cy="3291840"/>
          </a:xfrm>
          <a:prstGeom prst="ellipse">
            <a:avLst/>
          </a:prstGeom>
          <a:solidFill>
            <a:srgbClr val="5B2C82">
              <a:alpha val="45000"/>
            </a:srgbClr>
          </a:solidFill>
          <a:ln/>
        </p:spPr>
      </p:sp>
      <p:sp>
        <p:nvSpPr>
          <p:cNvPr id="4" name="Text 2"/>
          <p:cNvSpPr txBox="1"/>
          <p:nvPr/>
        </p:nvSpPr>
        <p:spPr>
          <a:xfrm>
            <a:off x="640080" y="548640"/>
            <a:ext cx="1463040" cy="731520"/>
          </a:xfrm>
          <a:prstGeom prst="rect">
            <a:avLst/>
          </a:prstGeom>
          <a:noFill/>
          <a:ln/>
        </p:spPr>
        <p:txBody>
          <a:bodyPr wrap="square" rtlCol="0" anchor="ctr"/>
          <a:lstStyle/>
          <a:p>
            <a:pPr marL="0" indent="0">
              <a:buNone/>
            </a:pPr>
            <a:r>
              <a:rPr lang="en-US" sz="2600" b="1" dirty="0">
                <a:solidFill>
                  <a:srgbClr val="D9C9F0"/>
                </a:solidFill>
                <a:latin typeface="Cambria" pitchFamily="34" charset="0"/>
                <a:ea typeface="Cambria" pitchFamily="34" charset="-122"/>
                <a:cs typeface="Cambria" pitchFamily="34" charset="-120"/>
              </a:rPr>
              <a:t>5G</a:t>
            </a:r>
            <a:endParaRPr lang="en-US" sz="2600" dirty="0"/>
          </a:p>
        </p:txBody>
      </p:sp>
      <p:sp>
        <p:nvSpPr>
          <p:cNvPr id="5" name="Text 3"/>
          <p:cNvSpPr txBox="1"/>
          <p:nvPr/>
        </p:nvSpPr>
        <p:spPr>
          <a:xfrm>
            <a:off x="640080" y="2514600"/>
            <a:ext cx="9144000" cy="365760"/>
          </a:xfrm>
          <a:prstGeom prst="rect">
            <a:avLst/>
          </a:prstGeom>
          <a:noFill/>
          <a:ln/>
        </p:spPr>
        <p:txBody>
          <a:bodyPr wrap="square" rtlCol="0" anchor="ctr"/>
          <a:lstStyle/>
          <a:p>
            <a:pPr marL="0" indent="0">
              <a:buNone/>
            </a:pPr>
            <a:r>
              <a:rPr lang="en-US" sz="1600" b="1" kern="0" spc="300" dirty="0">
                <a:solidFill>
                  <a:srgbClr val="D9C9F0"/>
                </a:solidFill>
                <a:latin typeface="Calibri" pitchFamily="34" charset="0"/>
                <a:ea typeface="Calibri" pitchFamily="34" charset="-122"/>
                <a:cs typeface="Calibri" pitchFamily="34" charset="-120"/>
              </a:rPr>
              <a:t>WAVECON TELECOM ANALYSIS</a:t>
            </a:r>
            <a:endParaRPr lang="en-US" sz="1600" dirty="0"/>
          </a:p>
        </p:txBody>
      </p:sp>
      <p:sp>
        <p:nvSpPr>
          <p:cNvPr id="6" name="Text 4"/>
          <p:cNvSpPr txBox="1"/>
          <p:nvPr/>
        </p:nvSpPr>
        <p:spPr>
          <a:xfrm>
            <a:off x="640080" y="2880360"/>
            <a:ext cx="9875520" cy="1554480"/>
          </a:xfrm>
          <a:prstGeom prst="rect">
            <a:avLst/>
          </a:prstGeom>
          <a:noFill/>
          <a:ln/>
        </p:spPr>
        <p:txBody>
          <a:bodyPr wrap="square" rtlCol="0" anchor="ctr"/>
          <a:lstStyle/>
          <a:p>
            <a:pPr marL="0" indent="0">
              <a:lnSpc>
                <a:spcPct val="108000"/>
              </a:lnSpc>
              <a:buNone/>
            </a:pPr>
            <a:r>
              <a:rPr lang="en-US" sz="4000" b="1" dirty="0">
                <a:solidFill>
                  <a:srgbClr val="FFFFFF"/>
                </a:solidFill>
                <a:latin typeface="Cambria" pitchFamily="34" charset="0"/>
                <a:ea typeface="Cambria" pitchFamily="34" charset="-122"/>
                <a:cs typeface="Cambria" pitchFamily="34" charset="-120"/>
              </a:rPr>
              <a:t>5G Launch: Impact on Revenue,</a:t>
            </a:r>
            <a:endParaRPr lang="en-US" sz="4000" dirty="0"/>
          </a:p>
          <a:p>
            <a:pPr marL="0" indent="0">
              <a:lnSpc>
                <a:spcPct val="108000"/>
              </a:lnSpc>
              <a:buNone/>
            </a:pPr>
            <a:r>
              <a:rPr lang="en-US" sz="4000" b="1" dirty="0">
                <a:solidFill>
                  <a:srgbClr val="FFFFFF"/>
                </a:solidFill>
                <a:latin typeface="Cambria" pitchFamily="34" charset="0"/>
                <a:ea typeface="Cambria" pitchFamily="34" charset="-122"/>
                <a:cs typeface="Cambria" pitchFamily="34" charset="-120"/>
              </a:rPr>
              <a:t>KPIs &amp; Plan Performance</a:t>
            </a:r>
            <a:endParaRPr lang="en-US" sz="4000" dirty="0"/>
          </a:p>
        </p:txBody>
      </p:sp>
      <p:sp>
        <p:nvSpPr>
          <p:cNvPr id="7" name="Text 5"/>
          <p:cNvSpPr txBox="1"/>
          <p:nvPr/>
        </p:nvSpPr>
        <p:spPr>
          <a:xfrm>
            <a:off x="658368" y="5828145"/>
            <a:ext cx="7315200" cy="664095"/>
          </a:xfrm>
          <a:prstGeom prst="rect">
            <a:avLst/>
          </a:prstGeom>
          <a:noFill/>
          <a:ln/>
        </p:spPr>
        <p:txBody>
          <a:bodyPr wrap="square" rtlCol="0" anchor="ctr"/>
          <a:lstStyle/>
          <a:p>
            <a:pPr marL="0" indent="0">
              <a:buNone/>
            </a:pPr>
            <a:r>
              <a:rPr lang="en-US" dirty="0">
                <a:solidFill>
                  <a:srgbClr val="B9A8D9"/>
                </a:solidFill>
                <a:latin typeface="Calibri" pitchFamily="34" charset="0"/>
                <a:ea typeface="Calibri" pitchFamily="34" charset="-122"/>
                <a:cs typeface="Calibri" pitchFamily="34" charset="-120"/>
              </a:rPr>
              <a:t>Prepared by Harsha Sharma</a:t>
            </a:r>
            <a:endParaRPr lang="en-US" dirty="0"/>
          </a:p>
        </p:txBody>
      </p:sp>
      <p:pic>
        <p:nvPicPr>
          <p:cNvPr id="12" name="Audio 11">
            <a:hlinkClick r:id="" action="ppaction://media"/>
            <a:extLst>
              <a:ext uri="{FF2B5EF4-FFF2-40B4-BE49-F238E27FC236}">
                <a16:creationId xmlns:a16="http://schemas.microsoft.com/office/drawing/2014/main" id="{ED826AF0-E5CA-65DB-D7A9-2542841693AE}"/>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62704" t="-125896" r="-262704" b="-125896"/>
          <a:stretch>
            <a:fillRect/>
          </a:stretch>
        </p:blipFill>
        <p:spPr>
          <a:xfrm>
            <a:off x="9144000" y="5143500"/>
            <a:ext cx="3048000" cy="17145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4497"/>
    </mc:Choice>
    <mc:Fallback>
      <p:transition spd="slow" advTm="1449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2"/>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rtlCol="0" anchor="ctr"/>
          <a:lstStyle/>
          <a:p>
            <a:pPr marL="0" indent="0">
              <a:buNone/>
            </a:pPr>
            <a:r>
              <a:rPr lang="en-US" sz="1200" b="1" kern="0" spc="200" dirty="0">
                <a:solidFill>
                  <a:srgbClr val="5B2C82"/>
                </a:solidFill>
                <a:latin typeface="Calibri" pitchFamily="34" charset="0"/>
                <a:ea typeface="Calibri" pitchFamily="34" charset="-122"/>
                <a:cs typeface="Calibri" pitchFamily="34" charset="-120"/>
              </a:rPr>
              <a:t>Q1 · REVENUE IMPACT</a:t>
            </a:r>
            <a:endParaRPr lang="en-US" sz="1200" dirty="0"/>
          </a:p>
        </p:txBody>
      </p:sp>
      <p:sp>
        <p:nvSpPr>
          <p:cNvPr id="3" name="Text 1"/>
          <p:cNvSpPr txBox="1"/>
          <p:nvPr/>
        </p:nvSpPr>
        <p:spPr>
          <a:xfrm>
            <a:off x="548640" y="676656"/>
            <a:ext cx="11064240" cy="731520"/>
          </a:xfrm>
          <a:prstGeom prst="rect">
            <a:avLst/>
          </a:prstGeom>
          <a:noFill/>
          <a:ln/>
        </p:spPr>
        <p:txBody>
          <a:bodyPr wrap="square" rtlCol="0" anchor="ctr"/>
          <a:lstStyle/>
          <a:p>
            <a:pPr marL="0" indent="0">
              <a:lnSpc>
                <a:spcPct val="105000"/>
              </a:lnSpc>
              <a:buNone/>
            </a:pPr>
            <a:r>
              <a:rPr lang="en-US" sz="2800" b="1" dirty="0">
                <a:solidFill>
                  <a:srgbClr val="2B2430"/>
                </a:solidFill>
                <a:latin typeface="Cambria" pitchFamily="34" charset="0"/>
                <a:ea typeface="Cambria" pitchFamily="34" charset="-122"/>
                <a:cs typeface="Cambria" pitchFamily="34" charset="-120"/>
              </a:rPr>
              <a:t>What is the impact of the 5G launch on revenue?</a:t>
            </a:r>
            <a:endParaRPr lang="en-US" sz="2800" dirty="0"/>
          </a:p>
        </p:txBody>
      </p:sp>
      <p:sp>
        <p:nvSpPr>
          <p:cNvPr id="4" name="Shape 2"/>
          <p:cNvSpPr/>
          <p:nvPr/>
        </p:nvSpPr>
        <p:spPr>
          <a:xfrm>
            <a:off x="548640" y="2011680"/>
            <a:ext cx="3429000" cy="1737360"/>
          </a:xfrm>
          <a:prstGeom prst="roundRect">
            <a:avLst>
              <a:gd name="adj" fmla="val 4737"/>
            </a:avLst>
          </a:prstGeom>
          <a:solidFill>
            <a:srgbClr val="F3EEFA"/>
          </a:solidFill>
          <a:ln/>
        </p:spPr>
      </p:sp>
      <p:sp>
        <p:nvSpPr>
          <p:cNvPr id="5" name="Text 3"/>
          <p:cNvSpPr txBox="1"/>
          <p:nvPr/>
        </p:nvSpPr>
        <p:spPr>
          <a:xfrm>
            <a:off x="777240" y="2240280"/>
            <a:ext cx="2971800" cy="320040"/>
          </a:xfrm>
          <a:prstGeom prst="rect">
            <a:avLst/>
          </a:prstGeom>
          <a:noFill/>
          <a:ln/>
        </p:spPr>
        <p:txBody>
          <a:bodyPr wrap="square" rtlCol="0" anchor="ctr"/>
          <a:lstStyle/>
          <a:p>
            <a:pPr marL="0" indent="0">
              <a:buNone/>
            </a:pPr>
            <a:r>
              <a:rPr lang="en-US" sz="1150" b="1" kern="0" spc="50" dirty="0">
                <a:solidFill>
                  <a:srgbClr val="6E6478"/>
                </a:solidFill>
                <a:latin typeface="Calibri" pitchFamily="34" charset="0"/>
                <a:ea typeface="Calibri" pitchFamily="34" charset="-122"/>
                <a:cs typeface="Calibri" pitchFamily="34" charset="-120"/>
              </a:rPr>
              <a:t>BEFORE 5G</a:t>
            </a:r>
            <a:endParaRPr lang="en-US" sz="1150" dirty="0"/>
          </a:p>
        </p:txBody>
      </p:sp>
      <p:sp>
        <p:nvSpPr>
          <p:cNvPr id="6" name="Text 4"/>
          <p:cNvSpPr txBox="1"/>
          <p:nvPr/>
        </p:nvSpPr>
        <p:spPr>
          <a:xfrm>
            <a:off x="777240" y="2606040"/>
            <a:ext cx="2971800" cy="914400"/>
          </a:xfrm>
          <a:prstGeom prst="rect">
            <a:avLst/>
          </a:prstGeom>
          <a:noFill/>
          <a:ln/>
        </p:spPr>
        <p:txBody>
          <a:bodyPr wrap="square" rtlCol="0" anchor="ctr"/>
          <a:lstStyle/>
          <a:p>
            <a:pPr marL="0" indent="0">
              <a:buNone/>
            </a:pPr>
            <a:r>
              <a:rPr lang="en-US" sz="3600" b="1" dirty="0">
                <a:solidFill>
                  <a:srgbClr val="3B1F63"/>
                </a:solidFill>
                <a:latin typeface="Cambria" pitchFamily="34" charset="0"/>
                <a:ea typeface="Cambria" pitchFamily="34" charset="-122"/>
                <a:cs typeface="Cambria" pitchFamily="34" charset="-120"/>
              </a:rPr>
              <a:t>₹16.0bn</a:t>
            </a:r>
            <a:endParaRPr lang="en-US" sz="3600" dirty="0"/>
          </a:p>
        </p:txBody>
      </p:sp>
      <p:sp>
        <p:nvSpPr>
          <p:cNvPr id="7" name="Shape 5"/>
          <p:cNvSpPr/>
          <p:nvPr/>
        </p:nvSpPr>
        <p:spPr>
          <a:xfrm>
            <a:off x="4297680" y="2011680"/>
            <a:ext cx="3429000" cy="1737360"/>
          </a:xfrm>
          <a:prstGeom prst="roundRect">
            <a:avLst>
              <a:gd name="adj" fmla="val 4737"/>
            </a:avLst>
          </a:prstGeom>
          <a:solidFill>
            <a:srgbClr val="F3EEFA"/>
          </a:solidFill>
          <a:ln/>
        </p:spPr>
      </p:sp>
      <p:sp>
        <p:nvSpPr>
          <p:cNvPr id="8" name="Text 6"/>
          <p:cNvSpPr txBox="1"/>
          <p:nvPr/>
        </p:nvSpPr>
        <p:spPr>
          <a:xfrm>
            <a:off x="4526280" y="2240280"/>
            <a:ext cx="2971800" cy="320040"/>
          </a:xfrm>
          <a:prstGeom prst="rect">
            <a:avLst/>
          </a:prstGeom>
          <a:noFill/>
          <a:ln/>
        </p:spPr>
        <p:txBody>
          <a:bodyPr wrap="square" rtlCol="0" anchor="ctr"/>
          <a:lstStyle/>
          <a:p>
            <a:pPr marL="0" indent="0">
              <a:buNone/>
            </a:pPr>
            <a:r>
              <a:rPr lang="en-US" sz="1150" b="1" kern="0" spc="50" dirty="0">
                <a:solidFill>
                  <a:srgbClr val="6E6478"/>
                </a:solidFill>
                <a:latin typeface="Calibri" pitchFamily="34" charset="0"/>
                <a:ea typeface="Calibri" pitchFamily="34" charset="-122"/>
                <a:cs typeface="Calibri" pitchFamily="34" charset="-120"/>
              </a:rPr>
              <a:t>AFTER 5G</a:t>
            </a:r>
            <a:endParaRPr lang="en-US" sz="1150" dirty="0"/>
          </a:p>
        </p:txBody>
      </p:sp>
      <p:sp>
        <p:nvSpPr>
          <p:cNvPr id="9" name="Text 7"/>
          <p:cNvSpPr txBox="1"/>
          <p:nvPr/>
        </p:nvSpPr>
        <p:spPr>
          <a:xfrm>
            <a:off x="4526280" y="2606040"/>
            <a:ext cx="2971800" cy="914400"/>
          </a:xfrm>
          <a:prstGeom prst="rect">
            <a:avLst/>
          </a:prstGeom>
          <a:noFill/>
          <a:ln/>
        </p:spPr>
        <p:txBody>
          <a:bodyPr wrap="square" rtlCol="0" anchor="ctr"/>
          <a:lstStyle/>
          <a:p>
            <a:pPr marL="0" indent="0">
              <a:buNone/>
            </a:pPr>
            <a:r>
              <a:rPr lang="en-US" sz="3600" b="1" dirty="0">
                <a:solidFill>
                  <a:srgbClr val="3B1F63"/>
                </a:solidFill>
                <a:latin typeface="Cambria" pitchFamily="34" charset="0"/>
                <a:ea typeface="Cambria" pitchFamily="34" charset="-122"/>
                <a:cs typeface="Cambria" pitchFamily="34" charset="-120"/>
              </a:rPr>
              <a:t>₹15.9bn</a:t>
            </a:r>
            <a:endParaRPr lang="en-US" sz="3600" dirty="0"/>
          </a:p>
        </p:txBody>
      </p:sp>
      <p:sp>
        <p:nvSpPr>
          <p:cNvPr id="10" name="Shape 8"/>
          <p:cNvSpPr/>
          <p:nvPr/>
        </p:nvSpPr>
        <p:spPr>
          <a:xfrm>
            <a:off x="8046720" y="2011680"/>
            <a:ext cx="3429000" cy="1737360"/>
          </a:xfrm>
          <a:prstGeom prst="roundRect">
            <a:avLst>
              <a:gd name="adj" fmla="val 4737"/>
            </a:avLst>
          </a:prstGeom>
          <a:solidFill>
            <a:srgbClr val="F3EEFA"/>
          </a:solidFill>
          <a:ln/>
        </p:spPr>
      </p:sp>
      <p:sp>
        <p:nvSpPr>
          <p:cNvPr id="11" name="Text 9"/>
          <p:cNvSpPr txBox="1"/>
          <p:nvPr/>
        </p:nvSpPr>
        <p:spPr>
          <a:xfrm>
            <a:off x="8275320" y="2240280"/>
            <a:ext cx="2971800" cy="320040"/>
          </a:xfrm>
          <a:prstGeom prst="rect">
            <a:avLst/>
          </a:prstGeom>
          <a:noFill/>
          <a:ln/>
        </p:spPr>
        <p:txBody>
          <a:bodyPr wrap="square" rtlCol="0" anchor="ctr"/>
          <a:lstStyle/>
          <a:p>
            <a:pPr marL="0" indent="0">
              <a:buNone/>
            </a:pPr>
            <a:r>
              <a:rPr lang="en-US" sz="1150" b="1" kern="0" spc="50" dirty="0">
                <a:solidFill>
                  <a:srgbClr val="6E6478"/>
                </a:solidFill>
                <a:latin typeface="Calibri" pitchFamily="34" charset="0"/>
                <a:ea typeface="Calibri" pitchFamily="34" charset="-122"/>
                <a:cs typeface="Calibri" pitchFamily="34" charset="-120"/>
              </a:rPr>
              <a:t>CHANGE</a:t>
            </a:r>
            <a:endParaRPr lang="en-US" sz="1150" dirty="0"/>
          </a:p>
        </p:txBody>
      </p:sp>
      <p:sp>
        <p:nvSpPr>
          <p:cNvPr id="12" name="Text 10"/>
          <p:cNvSpPr txBox="1"/>
          <p:nvPr/>
        </p:nvSpPr>
        <p:spPr>
          <a:xfrm>
            <a:off x="8275320" y="2606040"/>
            <a:ext cx="2971800" cy="914400"/>
          </a:xfrm>
          <a:prstGeom prst="rect">
            <a:avLst/>
          </a:prstGeom>
          <a:noFill/>
          <a:ln/>
        </p:spPr>
        <p:txBody>
          <a:bodyPr wrap="square" rtlCol="0" anchor="ctr"/>
          <a:lstStyle/>
          <a:p>
            <a:pPr marL="0" indent="0">
              <a:buNone/>
            </a:pPr>
            <a:r>
              <a:rPr lang="en-US" sz="3600" b="1" dirty="0">
                <a:solidFill>
                  <a:srgbClr val="C6414B"/>
                </a:solidFill>
                <a:latin typeface="Cambria" pitchFamily="34" charset="0"/>
                <a:ea typeface="Cambria" pitchFamily="34" charset="-122"/>
                <a:cs typeface="Cambria" pitchFamily="34" charset="-120"/>
              </a:rPr>
              <a:t>-0.50%</a:t>
            </a:r>
            <a:endParaRPr lang="en-US" sz="3600" dirty="0"/>
          </a:p>
        </p:txBody>
      </p:sp>
      <p:sp>
        <p:nvSpPr>
          <p:cNvPr id="13" name="Text 11"/>
          <p:cNvSpPr txBox="1"/>
          <p:nvPr/>
        </p:nvSpPr>
        <p:spPr>
          <a:xfrm>
            <a:off x="548640" y="4114800"/>
            <a:ext cx="10927080" cy="1097280"/>
          </a:xfrm>
          <a:prstGeom prst="rect">
            <a:avLst/>
          </a:prstGeom>
          <a:noFill/>
          <a:ln/>
        </p:spPr>
        <p:txBody>
          <a:bodyPr wrap="square" rtlCol="0" anchor="ctr"/>
          <a:lstStyle/>
          <a:p>
            <a:pPr marL="0" indent="0">
              <a:lnSpc>
                <a:spcPct val="125000"/>
              </a:lnSpc>
              <a:buNone/>
            </a:pPr>
            <a:r>
              <a:rPr lang="en-US" sz="1500" dirty="0">
                <a:solidFill>
                  <a:srgbClr val="2B2430"/>
                </a:solidFill>
                <a:latin typeface="Calibri" pitchFamily="34" charset="0"/>
                <a:ea typeface="Calibri" pitchFamily="34" charset="-122"/>
                <a:cs typeface="Calibri" pitchFamily="34" charset="-120"/>
              </a:rPr>
              <a:t>Revenue stayed essentially flat after the 5G launch. The dip was fully offset by an 11% rise in ARPU as customers shifted to higher-value 5G combo packs — so the flat headline number masks a smaller, higher-spending user base underneath.</a:t>
            </a:r>
            <a:endParaRPr lang="en-US" sz="1500" dirty="0"/>
          </a:p>
        </p:txBody>
      </p:sp>
      <p:sp>
        <p:nvSpPr>
          <p:cNvPr id="14" name="Text 12"/>
          <p:cNvSpPr/>
          <p:nvPr/>
        </p:nvSpPr>
        <p:spPr>
          <a:xfrm>
            <a:off x="11475720" y="6492240"/>
            <a:ext cx="457200" cy="274320"/>
          </a:xfrm>
          <a:prstGeom prst="rect">
            <a:avLst/>
          </a:prstGeom>
          <a:noFill/>
          <a:ln/>
        </p:spPr>
        <p:txBody>
          <a:bodyPr wrap="square" rtlCol="0" anchor="ctr"/>
          <a:lstStyle/>
          <a:p>
            <a:pPr marL="0" indent="0" algn="r">
              <a:buNone/>
            </a:pPr>
            <a:r>
              <a:rPr lang="en-US" sz="1000" dirty="0">
                <a:solidFill>
                  <a:srgbClr val="6E6478"/>
                </a:solidFill>
                <a:latin typeface="Calibri" pitchFamily="34" charset="0"/>
                <a:ea typeface="Calibri" pitchFamily="34" charset="-122"/>
                <a:cs typeface="Calibri" pitchFamily="34" charset="-120"/>
              </a:rPr>
              <a:t>2</a:t>
            </a:r>
            <a:endParaRPr lang="en-US" sz="1000" dirty="0"/>
          </a:p>
        </p:txBody>
      </p:sp>
      <p:pic>
        <p:nvPicPr>
          <p:cNvPr id="18" name="Audio 17">
            <a:hlinkClick r:id="" action="ppaction://media"/>
            <a:extLst>
              <a:ext uri="{FF2B5EF4-FFF2-40B4-BE49-F238E27FC236}">
                <a16:creationId xmlns:a16="http://schemas.microsoft.com/office/drawing/2014/main" id="{FFFB0898-F39D-2CE5-C01A-2786B917ECDC}"/>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62704" t="-125896" r="-262704" b="-125896"/>
          <a:stretch>
            <a:fillRect/>
          </a:stretch>
        </p:blipFill>
        <p:spPr>
          <a:xfrm>
            <a:off x="9144000" y="5143500"/>
            <a:ext cx="3048000" cy="17145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1643"/>
    </mc:Choice>
    <mc:Fallback>
      <p:transition spd="slow" advTm="3164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8"/>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rtlCol="0" anchor="ctr"/>
          <a:lstStyle/>
          <a:p>
            <a:pPr marL="0" indent="0">
              <a:buNone/>
            </a:pPr>
            <a:r>
              <a:rPr lang="en-US" sz="1200" b="1" kern="0" spc="200" dirty="0">
                <a:solidFill>
                  <a:srgbClr val="5B2C82"/>
                </a:solidFill>
                <a:latin typeface="Calibri" pitchFamily="34" charset="0"/>
                <a:ea typeface="Calibri" pitchFamily="34" charset="-122"/>
                <a:cs typeface="Calibri" pitchFamily="34" charset="-120"/>
              </a:rPr>
              <a:t>CITY PERFORMANCE</a:t>
            </a:r>
            <a:endParaRPr lang="en-US" sz="1200" dirty="0"/>
          </a:p>
        </p:txBody>
      </p:sp>
      <p:sp>
        <p:nvSpPr>
          <p:cNvPr id="3" name="Text 1"/>
          <p:cNvSpPr txBox="1"/>
          <p:nvPr/>
        </p:nvSpPr>
        <p:spPr>
          <a:xfrm>
            <a:off x="548640" y="676656"/>
            <a:ext cx="11064240" cy="731520"/>
          </a:xfrm>
          <a:prstGeom prst="rect">
            <a:avLst/>
          </a:prstGeom>
          <a:noFill/>
          <a:ln/>
        </p:spPr>
        <p:txBody>
          <a:bodyPr wrap="square" rtlCol="0" anchor="ctr"/>
          <a:lstStyle/>
          <a:p>
            <a:pPr marL="0" indent="0">
              <a:lnSpc>
                <a:spcPct val="105000"/>
              </a:lnSpc>
              <a:buNone/>
            </a:pPr>
            <a:r>
              <a:rPr lang="en-US" sz="2800" b="1" dirty="0">
                <a:solidFill>
                  <a:srgbClr val="2B2430"/>
                </a:solidFill>
                <a:latin typeface="Cambria" pitchFamily="34" charset="0"/>
                <a:ea typeface="Cambria" pitchFamily="34" charset="-122"/>
                <a:cs typeface="Cambria" pitchFamily="34" charset="-120"/>
              </a:rPr>
              <a:t>Top 5 and bottom 5 cities, before vs. after 5G</a:t>
            </a:r>
            <a:endParaRPr lang="en-US" sz="2800" dirty="0"/>
          </a:p>
        </p:txBody>
      </p:sp>
      <p:sp>
        <p:nvSpPr>
          <p:cNvPr id="4" name="Text 2"/>
          <p:cNvSpPr txBox="1"/>
          <p:nvPr/>
        </p:nvSpPr>
        <p:spPr>
          <a:xfrm>
            <a:off x="548640" y="1554480"/>
            <a:ext cx="5486400" cy="274320"/>
          </a:xfrm>
          <a:prstGeom prst="rect">
            <a:avLst/>
          </a:prstGeom>
          <a:noFill/>
          <a:ln/>
        </p:spPr>
        <p:txBody>
          <a:bodyPr wrap="square" rtlCol="0" anchor="ctr"/>
          <a:lstStyle/>
          <a:p>
            <a:pPr marL="0" indent="0">
              <a:buNone/>
            </a:pPr>
            <a:r>
              <a:rPr lang="en-US" sz="1200" b="1" kern="0" spc="100" dirty="0">
                <a:solidFill>
                  <a:srgbClr val="1E8A6E"/>
                </a:solidFill>
                <a:latin typeface="Calibri" pitchFamily="34" charset="0"/>
                <a:ea typeface="Calibri" pitchFamily="34" charset="-122"/>
                <a:cs typeface="Calibri" pitchFamily="34" charset="-120"/>
              </a:rPr>
              <a:t>TOP 5 CITIES BY REVENUE</a:t>
            </a:r>
            <a:endParaRPr lang="en-US" sz="1200" dirty="0"/>
          </a:p>
        </p:txBody>
      </p:sp>
      <p:graphicFrame>
        <p:nvGraphicFramePr>
          <p:cNvPr id="5" name="Chart 0"/>
          <p:cNvGraphicFramePr/>
          <p:nvPr/>
        </p:nvGraphicFramePr>
        <p:xfrm>
          <a:off x="457200" y="1874520"/>
          <a:ext cx="5623560" cy="2788920"/>
        </p:xfrm>
        <a:graphic>
          <a:graphicData uri="http://schemas.openxmlformats.org/drawingml/2006/chart">
            <c:chart xmlns:c="http://schemas.openxmlformats.org/drawingml/2006/chart" xmlns:r="http://schemas.openxmlformats.org/officeDocument/2006/relationships" r:id="rId5"/>
          </a:graphicData>
        </a:graphic>
      </p:graphicFrame>
      <p:sp>
        <p:nvSpPr>
          <p:cNvPr id="6" name="Text 3"/>
          <p:cNvSpPr txBox="1"/>
          <p:nvPr/>
        </p:nvSpPr>
        <p:spPr>
          <a:xfrm>
            <a:off x="6309360" y="1554480"/>
            <a:ext cx="5486400" cy="274320"/>
          </a:xfrm>
          <a:prstGeom prst="rect">
            <a:avLst/>
          </a:prstGeom>
          <a:noFill/>
          <a:ln/>
        </p:spPr>
        <p:txBody>
          <a:bodyPr wrap="square" rtlCol="0" anchor="ctr"/>
          <a:lstStyle/>
          <a:p>
            <a:pPr marL="0" indent="0">
              <a:buNone/>
            </a:pPr>
            <a:r>
              <a:rPr lang="en-US" sz="1200" b="1" kern="0" spc="100" dirty="0">
                <a:solidFill>
                  <a:srgbClr val="C6414B"/>
                </a:solidFill>
                <a:latin typeface="Calibri" pitchFamily="34" charset="0"/>
                <a:ea typeface="Calibri" pitchFamily="34" charset="-122"/>
                <a:cs typeface="Calibri" pitchFamily="34" charset="-120"/>
              </a:rPr>
              <a:t>BOTTOM 5 CITIES BY REVENUE</a:t>
            </a:r>
            <a:endParaRPr lang="en-US" sz="1200" dirty="0"/>
          </a:p>
        </p:txBody>
      </p:sp>
      <p:graphicFrame>
        <p:nvGraphicFramePr>
          <p:cNvPr id="7" name="Chart 1"/>
          <p:cNvGraphicFramePr/>
          <p:nvPr/>
        </p:nvGraphicFramePr>
        <p:xfrm>
          <a:off x="6217920" y="1874520"/>
          <a:ext cx="5577840" cy="2788920"/>
        </p:xfrm>
        <a:graphic>
          <a:graphicData uri="http://schemas.openxmlformats.org/drawingml/2006/chart">
            <c:chart xmlns:c="http://schemas.openxmlformats.org/drawingml/2006/chart" xmlns:r="http://schemas.openxmlformats.org/officeDocument/2006/relationships" r:id="rId6"/>
          </a:graphicData>
        </a:graphic>
      </p:graphicFrame>
      <p:sp>
        <p:nvSpPr>
          <p:cNvPr id="8" name="Text 4"/>
          <p:cNvSpPr txBox="1"/>
          <p:nvPr/>
        </p:nvSpPr>
        <p:spPr>
          <a:xfrm>
            <a:off x="548640" y="4892040"/>
            <a:ext cx="11109960" cy="640080"/>
          </a:xfrm>
          <a:prstGeom prst="rect">
            <a:avLst/>
          </a:prstGeom>
          <a:noFill/>
          <a:ln/>
        </p:spPr>
        <p:txBody>
          <a:bodyPr wrap="square" rtlCol="0" anchor="ctr"/>
          <a:lstStyle/>
          <a:p>
            <a:pPr marL="0" indent="0">
              <a:lnSpc>
                <a:spcPct val="120000"/>
              </a:lnSpc>
              <a:buNone/>
            </a:pPr>
            <a:r>
              <a:rPr lang="en-US" sz="1300" dirty="0">
                <a:solidFill>
                  <a:srgbClr val="6E6478"/>
                </a:solidFill>
                <a:latin typeface="Calibri" pitchFamily="34" charset="0"/>
                <a:ea typeface="Calibri" pitchFamily="34" charset="-122"/>
                <a:cs typeface="Calibri" pitchFamily="34" charset="-120"/>
              </a:rPr>
              <a:t>The same cities anchor the top and bottom of the table both before and after 5G — geography is stable, but Kolkata overtakes Delhi for the #2 spot, and Delhi posts the sharpest decline among major metros.</a:t>
            </a:r>
            <a:endParaRPr lang="en-US" sz="1300" dirty="0"/>
          </a:p>
        </p:txBody>
      </p:sp>
      <p:sp>
        <p:nvSpPr>
          <p:cNvPr id="9" name="Text 5"/>
          <p:cNvSpPr/>
          <p:nvPr/>
        </p:nvSpPr>
        <p:spPr>
          <a:xfrm>
            <a:off x="11475720" y="6492240"/>
            <a:ext cx="457200" cy="274320"/>
          </a:xfrm>
          <a:prstGeom prst="rect">
            <a:avLst/>
          </a:prstGeom>
          <a:noFill/>
          <a:ln/>
        </p:spPr>
        <p:txBody>
          <a:bodyPr wrap="square" rtlCol="0" anchor="ctr"/>
          <a:lstStyle/>
          <a:p>
            <a:pPr marL="0" indent="0" algn="r">
              <a:buNone/>
            </a:pPr>
            <a:r>
              <a:rPr lang="en-US" sz="1000" dirty="0">
                <a:solidFill>
                  <a:srgbClr val="6E6478"/>
                </a:solidFill>
                <a:latin typeface="Calibri" pitchFamily="34" charset="0"/>
                <a:ea typeface="Calibri" pitchFamily="34" charset="-122"/>
                <a:cs typeface="Calibri" pitchFamily="34" charset="-120"/>
              </a:rPr>
              <a:t>3</a:t>
            </a:r>
            <a:endParaRPr lang="en-US" sz="1000" dirty="0"/>
          </a:p>
        </p:txBody>
      </p:sp>
      <p:pic>
        <p:nvPicPr>
          <p:cNvPr id="13" name="Audio 12">
            <a:hlinkClick r:id="" action="ppaction://media"/>
            <a:extLst>
              <a:ext uri="{FF2B5EF4-FFF2-40B4-BE49-F238E27FC236}">
                <a16:creationId xmlns:a16="http://schemas.microsoft.com/office/drawing/2014/main" id="{84AD0288-15A0-B593-2A5D-E0EECCE62302}"/>
              </a:ext>
            </a:extLst>
          </p:cNvPr>
          <p:cNvPicPr>
            <a:picLocks noChangeAspect="1"/>
          </p:cNvPicPr>
          <p:nvPr>
            <a:audioFile r:link="rId2"/>
            <p:extLst>
              <p:ext uri="{DAA4B4D4-6D71-4841-9C94-3DE7FCFB9230}">
                <p14:media xmlns:p14="http://schemas.microsoft.com/office/powerpoint/2010/main" r:embed="rId1"/>
              </p:ext>
            </p:extLst>
          </p:nvPr>
        </p:nvPicPr>
        <p:blipFill>
          <a:blip r:embed="rId7"/>
          <a:srcRect l="-262704" t="-125896" r="-262704" b="-125896"/>
          <a:stretch>
            <a:fillRect/>
          </a:stretch>
        </p:blipFill>
        <p:spPr>
          <a:xfrm>
            <a:off x="9144000" y="5143500"/>
            <a:ext cx="3048000" cy="17145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1305"/>
    </mc:Choice>
    <mc:Fallback>
      <p:transition spd="slow" advTm="5130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3"/>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rtlCol="0" anchor="ctr"/>
          <a:lstStyle/>
          <a:p>
            <a:pPr marL="0" indent="0">
              <a:buNone/>
            </a:pPr>
            <a:r>
              <a:rPr lang="en-US" sz="1200" b="1" kern="0" spc="200" dirty="0">
                <a:solidFill>
                  <a:srgbClr val="5B2C82"/>
                </a:solidFill>
                <a:latin typeface="Calibri" pitchFamily="34" charset="0"/>
                <a:ea typeface="Calibri" pitchFamily="34" charset="-122"/>
                <a:cs typeface="Calibri" pitchFamily="34" charset="-120"/>
              </a:rPr>
              <a:t>Q2 · KPI PERFORMANCE</a:t>
            </a:r>
            <a:endParaRPr lang="en-US" sz="1200" dirty="0"/>
          </a:p>
        </p:txBody>
      </p:sp>
      <p:sp>
        <p:nvSpPr>
          <p:cNvPr id="3" name="Text 1"/>
          <p:cNvSpPr txBox="1"/>
          <p:nvPr/>
        </p:nvSpPr>
        <p:spPr>
          <a:xfrm>
            <a:off x="548640" y="676656"/>
            <a:ext cx="11064240" cy="731520"/>
          </a:xfrm>
          <a:prstGeom prst="rect">
            <a:avLst/>
          </a:prstGeom>
          <a:noFill/>
          <a:ln/>
        </p:spPr>
        <p:txBody>
          <a:bodyPr wrap="square" rtlCol="0" anchor="ctr"/>
          <a:lstStyle/>
          <a:p>
            <a:pPr marL="0" indent="0">
              <a:lnSpc>
                <a:spcPct val="105000"/>
              </a:lnSpc>
              <a:buNone/>
            </a:pPr>
            <a:r>
              <a:rPr lang="en-US" sz="2800" b="1" dirty="0">
                <a:solidFill>
                  <a:srgbClr val="2B2430"/>
                </a:solidFill>
                <a:latin typeface="Cambria" pitchFamily="34" charset="0"/>
                <a:ea typeface="Cambria" pitchFamily="34" charset="-122"/>
                <a:cs typeface="Cambria" pitchFamily="34" charset="-120"/>
              </a:rPr>
              <a:t>Which KPI is underperforming after the 5G launch?</a:t>
            </a:r>
            <a:endParaRPr lang="en-US" sz="2800" dirty="0"/>
          </a:p>
        </p:txBody>
      </p:sp>
      <p:sp>
        <p:nvSpPr>
          <p:cNvPr id="4" name="Shape 2"/>
          <p:cNvSpPr/>
          <p:nvPr/>
        </p:nvSpPr>
        <p:spPr>
          <a:xfrm>
            <a:off x="548640" y="1920240"/>
            <a:ext cx="5394960" cy="2286000"/>
          </a:xfrm>
          <a:prstGeom prst="roundRect">
            <a:avLst>
              <a:gd name="adj" fmla="val 3600"/>
            </a:avLst>
          </a:prstGeom>
          <a:solidFill>
            <a:srgbClr val="F3EEFA"/>
          </a:solidFill>
          <a:ln/>
        </p:spPr>
      </p:sp>
      <p:sp>
        <p:nvSpPr>
          <p:cNvPr id="5" name="Text 3"/>
          <p:cNvSpPr txBox="1"/>
          <p:nvPr/>
        </p:nvSpPr>
        <p:spPr>
          <a:xfrm>
            <a:off x="822960" y="2148840"/>
            <a:ext cx="4846320" cy="320040"/>
          </a:xfrm>
          <a:prstGeom prst="rect">
            <a:avLst/>
          </a:prstGeom>
          <a:noFill/>
          <a:ln/>
        </p:spPr>
        <p:txBody>
          <a:bodyPr wrap="square" rtlCol="0" anchor="ctr"/>
          <a:lstStyle/>
          <a:p>
            <a:pPr marL="0" indent="0">
              <a:buNone/>
            </a:pPr>
            <a:r>
              <a:rPr lang="en-US" sz="1200" b="1" kern="0" spc="50" dirty="0">
                <a:solidFill>
                  <a:srgbClr val="6E6478"/>
                </a:solidFill>
                <a:latin typeface="Calibri" pitchFamily="34" charset="0"/>
                <a:ea typeface="Calibri" pitchFamily="34" charset="-122"/>
                <a:cs typeface="Calibri" pitchFamily="34" charset="-120"/>
              </a:rPr>
              <a:t>TOTAL ACTIVE USERS (TAU)</a:t>
            </a:r>
            <a:endParaRPr lang="en-US" sz="1200" dirty="0"/>
          </a:p>
        </p:txBody>
      </p:sp>
      <p:sp>
        <p:nvSpPr>
          <p:cNvPr id="6" name="Text 4"/>
          <p:cNvSpPr txBox="1"/>
          <p:nvPr/>
        </p:nvSpPr>
        <p:spPr>
          <a:xfrm>
            <a:off x="822960" y="2514600"/>
            <a:ext cx="4846320" cy="640080"/>
          </a:xfrm>
          <a:prstGeom prst="rect">
            <a:avLst/>
          </a:prstGeom>
          <a:noFill/>
          <a:ln/>
        </p:spPr>
        <p:txBody>
          <a:bodyPr wrap="square" rtlCol="0" anchor="ctr"/>
          <a:lstStyle/>
          <a:p>
            <a:pPr marL="0" indent="0">
              <a:buNone/>
            </a:pPr>
            <a:r>
              <a:rPr lang="en-US" sz="2700" b="1" dirty="0">
                <a:solidFill>
                  <a:srgbClr val="2B2430"/>
                </a:solidFill>
                <a:latin typeface="Cambria" pitchFamily="34" charset="0"/>
                <a:ea typeface="Cambria" pitchFamily="34" charset="-122"/>
                <a:cs typeface="Cambria" pitchFamily="34" charset="-120"/>
              </a:rPr>
              <a:t>84.4M → 77.4M</a:t>
            </a:r>
            <a:endParaRPr lang="en-US" sz="2700" dirty="0"/>
          </a:p>
        </p:txBody>
      </p:sp>
      <p:sp>
        <p:nvSpPr>
          <p:cNvPr id="7" name="Text 5"/>
          <p:cNvSpPr txBox="1"/>
          <p:nvPr/>
        </p:nvSpPr>
        <p:spPr>
          <a:xfrm>
            <a:off x="822960" y="3200400"/>
            <a:ext cx="4846320" cy="502920"/>
          </a:xfrm>
          <a:prstGeom prst="rect">
            <a:avLst/>
          </a:prstGeom>
          <a:noFill/>
          <a:ln/>
        </p:spPr>
        <p:txBody>
          <a:bodyPr wrap="square" rtlCol="0" anchor="ctr"/>
          <a:lstStyle/>
          <a:p>
            <a:pPr marL="0" indent="0">
              <a:buNone/>
            </a:pPr>
            <a:r>
              <a:rPr lang="en-US" sz="2000" b="1" dirty="0">
                <a:solidFill>
                  <a:srgbClr val="C6414B"/>
                </a:solidFill>
                <a:latin typeface="Calibri" pitchFamily="34" charset="0"/>
                <a:ea typeface="Calibri" pitchFamily="34" charset="-122"/>
                <a:cs typeface="Calibri" pitchFamily="34" charset="-120"/>
              </a:rPr>
              <a:t>▼ -8.28%</a:t>
            </a:r>
            <a:endParaRPr lang="en-US" sz="2000" dirty="0"/>
          </a:p>
        </p:txBody>
      </p:sp>
      <p:sp>
        <p:nvSpPr>
          <p:cNvPr id="8" name="Shape 6"/>
          <p:cNvSpPr/>
          <p:nvPr/>
        </p:nvSpPr>
        <p:spPr>
          <a:xfrm>
            <a:off x="6263640" y="1920240"/>
            <a:ext cx="5394960" cy="2286000"/>
          </a:xfrm>
          <a:prstGeom prst="roundRect">
            <a:avLst>
              <a:gd name="adj" fmla="val 3600"/>
            </a:avLst>
          </a:prstGeom>
          <a:solidFill>
            <a:srgbClr val="F3EEFA"/>
          </a:solidFill>
          <a:ln/>
        </p:spPr>
      </p:sp>
      <p:sp>
        <p:nvSpPr>
          <p:cNvPr id="9" name="Text 7"/>
          <p:cNvSpPr txBox="1"/>
          <p:nvPr/>
        </p:nvSpPr>
        <p:spPr>
          <a:xfrm>
            <a:off x="6537960" y="2148840"/>
            <a:ext cx="4846320" cy="320040"/>
          </a:xfrm>
          <a:prstGeom prst="rect">
            <a:avLst/>
          </a:prstGeom>
          <a:noFill/>
          <a:ln/>
        </p:spPr>
        <p:txBody>
          <a:bodyPr wrap="square" rtlCol="0" anchor="ctr"/>
          <a:lstStyle/>
          <a:p>
            <a:pPr marL="0" indent="0">
              <a:buNone/>
            </a:pPr>
            <a:r>
              <a:rPr lang="en-US" sz="1200" b="1" kern="0" spc="50" dirty="0">
                <a:solidFill>
                  <a:srgbClr val="6E6478"/>
                </a:solidFill>
                <a:latin typeface="Calibri" pitchFamily="34" charset="0"/>
                <a:ea typeface="Calibri" pitchFamily="34" charset="-122"/>
                <a:cs typeface="Calibri" pitchFamily="34" charset="-120"/>
              </a:rPr>
              <a:t>UNSUBSCRIBED USERS (TUsU)</a:t>
            </a:r>
            <a:endParaRPr lang="en-US" sz="1200" dirty="0"/>
          </a:p>
        </p:txBody>
      </p:sp>
      <p:sp>
        <p:nvSpPr>
          <p:cNvPr id="10" name="Text 8"/>
          <p:cNvSpPr txBox="1"/>
          <p:nvPr/>
        </p:nvSpPr>
        <p:spPr>
          <a:xfrm>
            <a:off x="6537960" y="2514600"/>
            <a:ext cx="4846320" cy="640080"/>
          </a:xfrm>
          <a:prstGeom prst="rect">
            <a:avLst/>
          </a:prstGeom>
          <a:noFill/>
          <a:ln/>
        </p:spPr>
        <p:txBody>
          <a:bodyPr wrap="square" rtlCol="0" anchor="ctr"/>
          <a:lstStyle/>
          <a:p>
            <a:pPr marL="0" indent="0">
              <a:buNone/>
            </a:pPr>
            <a:r>
              <a:rPr lang="en-US" sz="2700" b="1" dirty="0">
                <a:solidFill>
                  <a:srgbClr val="2B2430"/>
                </a:solidFill>
                <a:latin typeface="Cambria" pitchFamily="34" charset="0"/>
                <a:ea typeface="Cambria" pitchFamily="34" charset="-122"/>
                <a:cs typeface="Cambria" pitchFamily="34" charset="-120"/>
              </a:rPr>
              <a:t>5.6M → 7.0M</a:t>
            </a:r>
            <a:endParaRPr lang="en-US" sz="2700" dirty="0"/>
          </a:p>
        </p:txBody>
      </p:sp>
      <p:sp>
        <p:nvSpPr>
          <p:cNvPr id="11" name="Text 9"/>
          <p:cNvSpPr txBox="1"/>
          <p:nvPr/>
        </p:nvSpPr>
        <p:spPr>
          <a:xfrm>
            <a:off x="6537960" y="3200400"/>
            <a:ext cx="4846320" cy="502920"/>
          </a:xfrm>
          <a:prstGeom prst="rect">
            <a:avLst/>
          </a:prstGeom>
          <a:noFill/>
          <a:ln/>
        </p:spPr>
        <p:txBody>
          <a:bodyPr wrap="square" rtlCol="0" anchor="ctr"/>
          <a:lstStyle/>
          <a:p>
            <a:pPr marL="0" indent="0">
              <a:buNone/>
            </a:pPr>
            <a:r>
              <a:rPr lang="en-US" sz="2000" b="1" dirty="0">
                <a:solidFill>
                  <a:srgbClr val="C6414B"/>
                </a:solidFill>
                <a:latin typeface="Calibri" pitchFamily="34" charset="0"/>
                <a:ea typeface="Calibri" pitchFamily="34" charset="-122"/>
                <a:cs typeface="Calibri" pitchFamily="34" charset="-120"/>
              </a:rPr>
              <a:t>▲ +23.50%</a:t>
            </a:r>
            <a:endParaRPr lang="en-US" sz="2000" dirty="0"/>
          </a:p>
        </p:txBody>
      </p:sp>
      <p:sp>
        <p:nvSpPr>
          <p:cNvPr id="12" name="Text 10"/>
          <p:cNvSpPr txBox="1"/>
          <p:nvPr/>
        </p:nvSpPr>
        <p:spPr>
          <a:xfrm>
            <a:off x="548640" y="4526280"/>
            <a:ext cx="11109960" cy="1005840"/>
          </a:xfrm>
          <a:prstGeom prst="rect">
            <a:avLst/>
          </a:prstGeom>
          <a:noFill/>
          <a:ln/>
        </p:spPr>
        <p:txBody>
          <a:bodyPr wrap="square" rtlCol="0" anchor="ctr"/>
          <a:lstStyle/>
          <a:p>
            <a:pPr marL="0" indent="0">
              <a:lnSpc>
                <a:spcPct val="125000"/>
              </a:lnSpc>
              <a:buNone/>
            </a:pPr>
            <a:r>
              <a:rPr lang="en-US" sz="1500" dirty="0">
                <a:solidFill>
                  <a:srgbClr val="2B2430"/>
                </a:solidFill>
                <a:latin typeface="Calibri" pitchFamily="34" charset="0"/>
                <a:ea typeface="Calibri" pitchFamily="34" charset="-122"/>
                <a:cs typeface="Calibri" pitchFamily="34" charset="-120"/>
              </a:rPr>
              <a:t>Both user-side KPIs moved the wrong way — active users fell 8.3% while unsubscribes jumped 23.5%, the sharpest swing on the dashboard. Retention, not acquisition or pricing, is the clearest problem area after 5G.</a:t>
            </a:r>
            <a:endParaRPr lang="en-US" sz="1500" dirty="0"/>
          </a:p>
        </p:txBody>
      </p:sp>
      <p:sp>
        <p:nvSpPr>
          <p:cNvPr id="13" name="Text 11"/>
          <p:cNvSpPr/>
          <p:nvPr/>
        </p:nvSpPr>
        <p:spPr>
          <a:xfrm>
            <a:off x="11475720" y="6492240"/>
            <a:ext cx="457200" cy="274320"/>
          </a:xfrm>
          <a:prstGeom prst="rect">
            <a:avLst/>
          </a:prstGeom>
          <a:noFill/>
          <a:ln/>
        </p:spPr>
        <p:txBody>
          <a:bodyPr wrap="square" rtlCol="0" anchor="ctr"/>
          <a:lstStyle/>
          <a:p>
            <a:pPr marL="0" indent="0" algn="r">
              <a:buNone/>
            </a:pPr>
            <a:r>
              <a:rPr lang="en-US" sz="1000" dirty="0">
                <a:solidFill>
                  <a:srgbClr val="6E6478"/>
                </a:solidFill>
                <a:latin typeface="Calibri" pitchFamily="34" charset="0"/>
                <a:ea typeface="Calibri" pitchFamily="34" charset="-122"/>
                <a:cs typeface="Calibri" pitchFamily="34" charset="-120"/>
              </a:rPr>
              <a:t>4</a:t>
            </a:r>
            <a:endParaRPr lang="en-US" sz="1000" dirty="0"/>
          </a:p>
        </p:txBody>
      </p:sp>
      <p:pic>
        <p:nvPicPr>
          <p:cNvPr id="16" name="Audio 15">
            <a:hlinkClick r:id="" action="ppaction://media"/>
            <a:extLst>
              <a:ext uri="{FF2B5EF4-FFF2-40B4-BE49-F238E27FC236}">
                <a16:creationId xmlns:a16="http://schemas.microsoft.com/office/drawing/2014/main" id="{4C58D60F-B6A2-2021-B111-E43AE8BEA76B}"/>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62704" t="-125896" r="-262704" b="-125896"/>
          <a:stretch>
            <a:fillRect/>
          </a:stretch>
        </p:blipFill>
        <p:spPr>
          <a:xfrm>
            <a:off x="9144000" y="5143500"/>
            <a:ext cx="3048000" cy="17145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588"/>
    </mc:Choice>
    <mc:Fallback>
      <p:transition spd="slow" advTm="3658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6"/>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rtlCol="0" anchor="ctr"/>
          <a:lstStyle/>
          <a:p>
            <a:pPr marL="0" indent="0">
              <a:buNone/>
            </a:pPr>
            <a:r>
              <a:rPr lang="en-US" sz="1200" b="1" kern="0" spc="200" dirty="0">
                <a:solidFill>
                  <a:srgbClr val="5B2C82"/>
                </a:solidFill>
                <a:latin typeface="Calibri" pitchFamily="34" charset="0"/>
                <a:ea typeface="Calibri" pitchFamily="34" charset="-122"/>
                <a:cs typeface="Calibri" pitchFamily="34" charset="-120"/>
              </a:rPr>
              <a:t>Q3 · PLAN PERFORMANCE</a:t>
            </a:r>
            <a:endParaRPr lang="en-US" sz="1200" dirty="0"/>
          </a:p>
        </p:txBody>
      </p:sp>
      <p:sp>
        <p:nvSpPr>
          <p:cNvPr id="3" name="Text 1"/>
          <p:cNvSpPr txBox="1"/>
          <p:nvPr/>
        </p:nvSpPr>
        <p:spPr>
          <a:xfrm>
            <a:off x="548640" y="676656"/>
            <a:ext cx="11064240" cy="731520"/>
          </a:xfrm>
          <a:prstGeom prst="rect">
            <a:avLst/>
          </a:prstGeom>
          <a:noFill/>
          <a:ln/>
        </p:spPr>
        <p:txBody>
          <a:bodyPr wrap="square" rtlCol="0" anchor="ctr"/>
          <a:lstStyle/>
          <a:p>
            <a:pPr marL="0" indent="0">
              <a:lnSpc>
                <a:spcPct val="105000"/>
              </a:lnSpc>
              <a:buNone/>
            </a:pPr>
            <a:r>
              <a:rPr lang="en-US" sz="2800" b="1" dirty="0">
                <a:solidFill>
                  <a:srgbClr val="2B2430"/>
                </a:solidFill>
                <a:latin typeface="Cambria" pitchFamily="34" charset="0"/>
                <a:ea typeface="Cambria" pitchFamily="34" charset="-122"/>
                <a:cs typeface="Cambria" pitchFamily="34" charset="-120"/>
              </a:rPr>
              <a:t>Which plans are performing well after 5G — and which aren't?</a:t>
            </a:r>
            <a:endParaRPr lang="en-US" sz="2800" dirty="0"/>
          </a:p>
        </p:txBody>
      </p:sp>
      <p:sp>
        <p:nvSpPr>
          <p:cNvPr id="4" name="Shape 2"/>
          <p:cNvSpPr/>
          <p:nvPr/>
        </p:nvSpPr>
        <p:spPr>
          <a:xfrm>
            <a:off x="548640" y="1874520"/>
            <a:ext cx="5394960" cy="3703320"/>
          </a:xfrm>
          <a:prstGeom prst="roundRect">
            <a:avLst>
              <a:gd name="adj" fmla="val 2222"/>
            </a:avLst>
          </a:prstGeom>
          <a:solidFill>
            <a:srgbClr val="E7F5F0"/>
          </a:solidFill>
          <a:ln/>
        </p:spPr>
      </p:sp>
      <p:sp>
        <p:nvSpPr>
          <p:cNvPr id="5" name="Text 3"/>
          <p:cNvSpPr txBox="1"/>
          <p:nvPr/>
        </p:nvSpPr>
        <p:spPr>
          <a:xfrm>
            <a:off x="822960" y="2057400"/>
            <a:ext cx="4846320" cy="320040"/>
          </a:xfrm>
          <a:prstGeom prst="rect">
            <a:avLst/>
          </a:prstGeom>
          <a:noFill/>
          <a:ln/>
        </p:spPr>
        <p:txBody>
          <a:bodyPr wrap="square" rtlCol="0" anchor="ctr"/>
          <a:lstStyle/>
          <a:p>
            <a:pPr marL="0" indent="0">
              <a:buNone/>
            </a:pPr>
            <a:r>
              <a:rPr lang="en-US" sz="1300" b="1" kern="0" spc="100" dirty="0">
                <a:solidFill>
                  <a:srgbClr val="1E8A6E"/>
                </a:solidFill>
                <a:latin typeface="Calibri" pitchFamily="34" charset="0"/>
                <a:ea typeface="Calibri" pitchFamily="34" charset="-122"/>
                <a:cs typeface="Calibri" pitchFamily="34" charset="-120"/>
              </a:rPr>
              <a:t>▲ PERFORMING WELL</a:t>
            </a:r>
            <a:endParaRPr lang="en-US" sz="1300" dirty="0"/>
          </a:p>
        </p:txBody>
      </p:sp>
      <p:sp>
        <p:nvSpPr>
          <p:cNvPr id="6" name="Text 4"/>
          <p:cNvSpPr txBox="1"/>
          <p:nvPr/>
        </p:nvSpPr>
        <p:spPr>
          <a:xfrm>
            <a:off x="822960" y="2468880"/>
            <a:ext cx="4846320" cy="2926080"/>
          </a:xfrm>
          <a:prstGeom prst="rect">
            <a:avLst/>
          </a:prstGeom>
          <a:noFill/>
          <a:ln/>
        </p:spPr>
        <p:txBody>
          <a:bodyPr wrap="square" rtlCol="0" anchor="ctr"/>
          <a:lstStyle/>
          <a:p>
            <a:pPr marL="0" indent="0">
              <a:lnSpc>
                <a:spcPct val="125000"/>
              </a:lnSpc>
              <a:buNone/>
            </a:pPr>
            <a:r>
              <a:rPr lang="en-US" sz="1400" b="1" dirty="0">
                <a:solidFill>
                  <a:srgbClr val="2B2430"/>
                </a:solidFill>
                <a:latin typeface="Calibri" pitchFamily="34" charset="0"/>
                <a:ea typeface="Calibri" pitchFamily="34" charset="-122"/>
                <a:cs typeface="Calibri" pitchFamily="34" charset="-120"/>
              </a:rPr>
              <a:t>p1 · Smart Recharge Pack
</a:t>
            </a:r>
            <a:r>
              <a:rPr lang="en-US" sz="1300" dirty="0">
                <a:solidFill>
                  <a:srgbClr val="6E6478"/>
                </a:solidFill>
                <a:latin typeface="Calibri" pitchFamily="34" charset="0"/>
                <a:ea typeface="Calibri" pitchFamily="34" charset="-122"/>
                <a:cs typeface="Calibri" pitchFamily="34" charset="-120"/>
              </a:rPr>
              <a:t>₹1.8bn → ₹2.4bn  (+33%)
</a:t>
            </a:r>
            <a:r>
              <a:rPr lang="en-US" sz="1400" b="1" dirty="0">
                <a:solidFill>
                  <a:srgbClr val="2B2430"/>
                </a:solidFill>
                <a:latin typeface="Calibri" pitchFamily="34" charset="0"/>
                <a:ea typeface="Calibri" pitchFamily="34" charset="-122"/>
                <a:cs typeface="Calibri" pitchFamily="34" charset="-120"/>
              </a:rPr>
              <a:t>p11 · Ultra Fast Mega Pack (new)
</a:t>
            </a:r>
            <a:r>
              <a:rPr lang="en-US" sz="1300" dirty="0">
                <a:solidFill>
                  <a:srgbClr val="6E6478"/>
                </a:solidFill>
                <a:latin typeface="Calibri" pitchFamily="34" charset="0"/>
                <a:ea typeface="Calibri" pitchFamily="34" charset="-122"/>
                <a:cs typeface="Calibri" pitchFamily="34" charset="-120"/>
              </a:rPr>
              <a:t>₹1.9bn in its first 4 months
</a:t>
            </a:r>
            <a:r>
              <a:rPr lang="en-US" sz="1400" b="1" dirty="0">
                <a:solidFill>
                  <a:srgbClr val="2B2430"/>
                </a:solidFill>
                <a:latin typeface="Calibri" pitchFamily="34" charset="0"/>
                <a:ea typeface="Calibri" pitchFamily="34" charset="-122"/>
                <a:cs typeface="Calibri" pitchFamily="34" charset="-120"/>
              </a:rPr>
              <a:t>p12 / p13 · New 5G combos
</a:t>
            </a:r>
            <a:r>
              <a:rPr lang="en-US" sz="1300" dirty="0">
                <a:solidFill>
                  <a:srgbClr val="6E6478"/>
                </a:solidFill>
                <a:latin typeface="Calibri" pitchFamily="34" charset="0"/>
                <a:ea typeface="Calibri" pitchFamily="34" charset="-122"/>
                <a:cs typeface="Calibri" pitchFamily="34" charset="-120"/>
              </a:rPr>
              <a:t>₹1.2bn and ₹0.31bn, growing steadily</a:t>
            </a:r>
            <a:endParaRPr lang="en-US" sz="1400" dirty="0"/>
          </a:p>
        </p:txBody>
      </p:sp>
      <p:sp>
        <p:nvSpPr>
          <p:cNvPr id="7" name="Shape 5"/>
          <p:cNvSpPr/>
          <p:nvPr/>
        </p:nvSpPr>
        <p:spPr>
          <a:xfrm>
            <a:off x="6263640" y="1874520"/>
            <a:ext cx="5394960" cy="3703320"/>
          </a:xfrm>
          <a:prstGeom prst="roundRect">
            <a:avLst>
              <a:gd name="adj" fmla="val 2222"/>
            </a:avLst>
          </a:prstGeom>
          <a:solidFill>
            <a:srgbClr val="FBEBEC"/>
          </a:solidFill>
          <a:ln/>
        </p:spPr>
      </p:sp>
      <p:sp>
        <p:nvSpPr>
          <p:cNvPr id="8" name="Text 6"/>
          <p:cNvSpPr txBox="1"/>
          <p:nvPr/>
        </p:nvSpPr>
        <p:spPr>
          <a:xfrm>
            <a:off x="6537960" y="2057400"/>
            <a:ext cx="4846320" cy="320040"/>
          </a:xfrm>
          <a:prstGeom prst="rect">
            <a:avLst/>
          </a:prstGeom>
          <a:noFill/>
          <a:ln/>
        </p:spPr>
        <p:txBody>
          <a:bodyPr wrap="square" rtlCol="0" anchor="ctr"/>
          <a:lstStyle/>
          <a:p>
            <a:pPr marL="0" indent="0">
              <a:buNone/>
            </a:pPr>
            <a:r>
              <a:rPr lang="en-US" sz="1300" b="1" kern="0" spc="100" dirty="0">
                <a:solidFill>
                  <a:srgbClr val="C6414B"/>
                </a:solidFill>
                <a:latin typeface="Calibri" pitchFamily="34" charset="0"/>
                <a:ea typeface="Calibri" pitchFamily="34" charset="-122"/>
                <a:cs typeface="Calibri" pitchFamily="34" charset="-120"/>
              </a:rPr>
              <a:t>▼ NOT PERFORMING WELL</a:t>
            </a:r>
            <a:endParaRPr lang="en-US" sz="1300" dirty="0"/>
          </a:p>
        </p:txBody>
      </p:sp>
      <p:sp>
        <p:nvSpPr>
          <p:cNvPr id="9" name="Text 7"/>
          <p:cNvSpPr txBox="1"/>
          <p:nvPr/>
        </p:nvSpPr>
        <p:spPr>
          <a:xfrm>
            <a:off x="6537960" y="2468880"/>
            <a:ext cx="4846320" cy="2926080"/>
          </a:xfrm>
          <a:prstGeom prst="rect">
            <a:avLst/>
          </a:prstGeom>
          <a:noFill/>
          <a:ln/>
        </p:spPr>
        <p:txBody>
          <a:bodyPr wrap="square" rtlCol="0" anchor="ctr"/>
          <a:lstStyle/>
          <a:p>
            <a:pPr marL="0" indent="0">
              <a:lnSpc>
                <a:spcPct val="125000"/>
              </a:lnSpc>
              <a:buNone/>
            </a:pPr>
            <a:r>
              <a:rPr lang="en-US" sz="1400" b="1" dirty="0">
                <a:solidFill>
                  <a:srgbClr val="2B2430"/>
                </a:solidFill>
                <a:latin typeface="Calibri" pitchFamily="34" charset="0"/>
                <a:ea typeface="Calibri" pitchFamily="34" charset="-122"/>
                <a:cs typeface="Calibri" pitchFamily="34" charset="-120"/>
              </a:rPr>
              <a:t>p7 · 25GB 3G/4G Combo
</a:t>
            </a:r>
            <a:r>
              <a:rPr lang="en-US" sz="1300" dirty="0">
                <a:solidFill>
                  <a:srgbClr val="6E6478"/>
                </a:solidFill>
                <a:latin typeface="Calibri" pitchFamily="34" charset="0"/>
                <a:ea typeface="Calibri" pitchFamily="34" charset="-122"/>
                <a:cs typeface="Calibri" pitchFamily="34" charset="-120"/>
              </a:rPr>
              <a:t>₹582M → ₹156M  (-73%)
</a:t>
            </a:r>
            <a:r>
              <a:rPr lang="en-US" sz="1400" b="1" dirty="0">
                <a:solidFill>
                  <a:srgbClr val="2B2430"/>
                </a:solidFill>
                <a:latin typeface="Calibri" pitchFamily="34" charset="0"/>
                <a:ea typeface="Calibri" pitchFamily="34" charset="-122"/>
                <a:cs typeface="Calibri" pitchFamily="34" charset="-120"/>
              </a:rPr>
              <a:t>p5 · ₹99 Talktime Combo
</a:t>
            </a:r>
            <a:r>
              <a:rPr lang="en-US" sz="1300" dirty="0">
                <a:solidFill>
                  <a:srgbClr val="6E6478"/>
                </a:solidFill>
                <a:latin typeface="Calibri" pitchFamily="34" charset="0"/>
                <a:ea typeface="Calibri" pitchFamily="34" charset="-122"/>
                <a:cs typeface="Calibri" pitchFamily="34" charset="-120"/>
              </a:rPr>
              <a:t>₹1.0bn → ₹652M  (-35%)
</a:t>
            </a:r>
            <a:r>
              <a:rPr lang="en-US" sz="1400" b="1" dirty="0">
                <a:solidFill>
                  <a:srgbClr val="2B2430"/>
                </a:solidFill>
                <a:latin typeface="Calibri" pitchFamily="34" charset="0"/>
                <a:ea typeface="Calibri" pitchFamily="34" charset="-122"/>
                <a:cs typeface="Calibri" pitchFamily="34" charset="-120"/>
              </a:rPr>
              <a:t>p6 · Xstream 15GB Pack
</a:t>
            </a:r>
            <a:r>
              <a:rPr lang="en-US" sz="1300" dirty="0">
                <a:solidFill>
                  <a:srgbClr val="6E6478"/>
                </a:solidFill>
                <a:latin typeface="Calibri" pitchFamily="34" charset="0"/>
                <a:ea typeface="Calibri" pitchFamily="34" charset="-122"/>
                <a:cs typeface="Calibri" pitchFamily="34" charset="-120"/>
              </a:rPr>
              <a:t>₹749M → ₹495M  (-34%)</a:t>
            </a:r>
            <a:endParaRPr lang="en-US" sz="1400" dirty="0"/>
          </a:p>
        </p:txBody>
      </p:sp>
      <p:sp>
        <p:nvSpPr>
          <p:cNvPr id="10" name="Text 8"/>
          <p:cNvSpPr/>
          <p:nvPr/>
        </p:nvSpPr>
        <p:spPr>
          <a:xfrm>
            <a:off x="11475720" y="6492240"/>
            <a:ext cx="457200" cy="274320"/>
          </a:xfrm>
          <a:prstGeom prst="rect">
            <a:avLst/>
          </a:prstGeom>
          <a:noFill/>
          <a:ln/>
        </p:spPr>
        <p:txBody>
          <a:bodyPr wrap="square" rtlCol="0" anchor="ctr"/>
          <a:lstStyle/>
          <a:p>
            <a:pPr marL="0" indent="0" algn="r">
              <a:buNone/>
            </a:pPr>
            <a:r>
              <a:rPr lang="en-US" sz="1000" dirty="0">
                <a:solidFill>
                  <a:srgbClr val="6E6478"/>
                </a:solidFill>
                <a:latin typeface="Calibri" pitchFamily="34" charset="0"/>
                <a:ea typeface="Calibri" pitchFamily="34" charset="-122"/>
                <a:cs typeface="Calibri" pitchFamily="34" charset="-120"/>
              </a:rPr>
              <a:t>5</a:t>
            </a:r>
            <a:endParaRPr lang="en-US" sz="1000" dirty="0"/>
          </a:p>
        </p:txBody>
      </p:sp>
      <p:pic>
        <p:nvPicPr>
          <p:cNvPr id="13" name="Audio 12">
            <a:hlinkClick r:id="" action="ppaction://media"/>
            <a:extLst>
              <a:ext uri="{FF2B5EF4-FFF2-40B4-BE49-F238E27FC236}">
                <a16:creationId xmlns:a16="http://schemas.microsoft.com/office/drawing/2014/main" id="{71C5F090-1CC1-8FE1-D1C5-7797728DD875}"/>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62704" t="-125896" r="-262704" b="-125896"/>
          <a:stretch>
            <a:fillRect/>
          </a:stretch>
        </p:blipFill>
        <p:spPr>
          <a:xfrm>
            <a:off x="9144000" y="5143500"/>
            <a:ext cx="3048000" cy="17145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2194"/>
    </mc:Choice>
    <mc:Fallback>
      <p:transition spd="slow" advTm="4219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3"/>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rtlCol="0" anchor="ctr"/>
          <a:lstStyle/>
          <a:p>
            <a:pPr marL="0" indent="0">
              <a:buNone/>
            </a:pPr>
            <a:r>
              <a:rPr lang="en-US" sz="1200" b="1" kern="0" spc="200" dirty="0">
                <a:solidFill>
                  <a:srgbClr val="5B2C82"/>
                </a:solidFill>
                <a:latin typeface="Calibri" pitchFamily="34" charset="0"/>
                <a:ea typeface="Calibri" pitchFamily="34" charset="-122"/>
                <a:cs typeface="Calibri" pitchFamily="34" charset="-120"/>
              </a:rPr>
              <a:t>Q4 · MOST-AFFECTED PLAN</a:t>
            </a:r>
            <a:endParaRPr lang="en-US" sz="1200" dirty="0"/>
          </a:p>
        </p:txBody>
      </p:sp>
      <p:sp>
        <p:nvSpPr>
          <p:cNvPr id="3" name="Text 1"/>
          <p:cNvSpPr txBox="1"/>
          <p:nvPr/>
        </p:nvSpPr>
        <p:spPr>
          <a:xfrm>
            <a:off x="548640" y="676656"/>
            <a:ext cx="11064240" cy="731520"/>
          </a:xfrm>
          <a:prstGeom prst="rect">
            <a:avLst/>
          </a:prstGeom>
          <a:noFill/>
          <a:ln/>
        </p:spPr>
        <p:txBody>
          <a:bodyPr wrap="square" rtlCol="0" anchor="ctr"/>
          <a:lstStyle/>
          <a:p>
            <a:pPr marL="0" indent="0">
              <a:lnSpc>
                <a:spcPct val="105000"/>
              </a:lnSpc>
              <a:buNone/>
            </a:pPr>
            <a:r>
              <a:rPr lang="en-US" sz="2800" b="1" dirty="0">
                <a:solidFill>
                  <a:srgbClr val="2B2430"/>
                </a:solidFill>
                <a:latin typeface="Cambria" pitchFamily="34" charset="0"/>
                <a:ea typeface="Cambria" pitchFamily="34" charset="-122"/>
                <a:cs typeface="Cambria" pitchFamily="34" charset="-120"/>
              </a:rPr>
              <a:t>Is any plan largely affected by 5G — continue or discontinue?</a:t>
            </a:r>
            <a:endParaRPr lang="en-US" sz="2800" dirty="0"/>
          </a:p>
        </p:txBody>
      </p:sp>
      <p:sp>
        <p:nvSpPr>
          <p:cNvPr id="4" name="Shape 2"/>
          <p:cNvSpPr/>
          <p:nvPr/>
        </p:nvSpPr>
        <p:spPr>
          <a:xfrm>
            <a:off x="548640" y="1920240"/>
            <a:ext cx="4206240" cy="3566160"/>
          </a:xfrm>
          <a:prstGeom prst="roundRect">
            <a:avLst>
              <a:gd name="adj" fmla="val 2308"/>
            </a:avLst>
          </a:prstGeom>
          <a:solidFill>
            <a:srgbClr val="F3EEFA"/>
          </a:solidFill>
          <a:ln/>
        </p:spPr>
      </p:sp>
      <p:sp>
        <p:nvSpPr>
          <p:cNvPr id="5" name="Text 3"/>
          <p:cNvSpPr txBox="1"/>
          <p:nvPr/>
        </p:nvSpPr>
        <p:spPr>
          <a:xfrm>
            <a:off x="822960" y="2148840"/>
            <a:ext cx="3657600" cy="822960"/>
          </a:xfrm>
          <a:prstGeom prst="rect">
            <a:avLst/>
          </a:prstGeom>
          <a:noFill/>
          <a:ln/>
        </p:spPr>
        <p:txBody>
          <a:bodyPr wrap="square" rtlCol="0" anchor="ctr"/>
          <a:lstStyle/>
          <a:p>
            <a:pPr marL="0" indent="0">
              <a:lnSpc>
                <a:spcPct val="110000"/>
              </a:lnSpc>
              <a:buNone/>
            </a:pPr>
            <a:r>
              <a:rPr lang="en-US" sz="1700" b="1" dirty="0">
                <a:solidFill>
                  <a:srgbClr val="3B1F63"/>
                </a:solidFill>
                <a:latin typeface="Cambria" pitchFamily="34" charset="0"/>
                <a:ea typeface="Cambria" pitchFamily="34" charset="-122"/>
                <a:cs typeface="Cambria" pitchFamily="34" charset="-120"/>
              </a:rPr>
              <a:t>p7 — 25GB Combo 3G/4G</a:t>
            </a:r>
            <a:endParaRPr lang="en-US" sz="1700" dirty="0"/>
          </a:p>
          <a:p>
            <a:pPr marL="0" indent="0">
              <a:lnSpc>
                <a:spcPct val="110000"/>
              </a:lnSpc>
              <a:buNone/>
            </a:pPr>
            <a:r>
              <a:rPr lang="en-US" sz="1700" b="1" dirty="0">
                <a:solidFill>
                  <a:srgbClr val="3B1F63"/>
                </a:solidFill>
                <a:latin typeface="Cambria" pitchFamily="34" charset="0"/>
                <a:ea typeface="Cambria" pitchFamily="34" charset="-122"/>
                <a:cs typeface="Cambria" pitchFamily="34" charset="-120"/>
              </a:rPr>
              <a:t>Data Pack</a:t>
            </a:r>
            <a:endParaRPr lang="en-US" sz="1700" dirty="0"/>
          </a:p>
        </p:txBody>
      </p:sp>
      <p:sp>
        <p:nvSpPr>
          <p:cNvPr id="6" name="Text 4"/>
          <p:cNvSpPr txBox="1"/>
          <p:nvPr/>
        </p:nvSpPr>
        <p:spPr>
          <a:xfrm>
            <a:off x="822960" y="3063240"/>
            <a:ext cx="3657600" cy="457200"/>
          </a:xfrm>
          <a:prstGeom prst="rect">
            <a:avLst/>
          </a:prstGeom>
          <a:noFill/>
          <a:ln/>
        </p:spPr>
        <p:txBody>
          <a:bodyPr wrap="square" rtlCol="0" anchor="ctr"/>
          <a:lstStyle/>
          <a:p>
            <a:pPr marL="0" indent="0">
              <a:buNone/>
            </a:pPr>
            <a:r>
              <a:rPr lang="en-US" sz="2000" b="1" dirty="0">
                <a:solidFill>
                  <a:srgbClr val="2B2430"/>
                </a:solidFill>
                <a:latin typeface="Cambria" pitchFamily="34" charset="0"/>
                <a:ea typeface="Cambria" pitchFamily="34" charset="-122"/>
                <a:cs typeface="Cambria" pitchFamily="34" charset="-120"/>
              </a:rPr>
              <a:t>₹582.4M → ₹155.6M</a:t>
            </a:r>
            <a:endParaRPr lang="en-US" sz="2000" dirty="0"/>
          </a:p>
        </p:txBody>
      </p:sp>
      <p:sp>
        <p:nvSpPr>
          <p:cNvPr id="7" name="Shape 5"/>
          <p:cNvSpPr/>
          <p:nvPr/>
        </p:nvSpPr>
        <p:spPr>
          <a:xfrm>
            <a:off x="822960" y="3611880"/>
            <a:ext cx="3474720" cy="502920"/>
          </a:xfrm>
          <a:prstGeom prst="roundRect">
            <a:avLst>
              <a:gd name="adj" fmla="val 12727"/>
            </a:avLst>
          </a:prstGeom>
          <a:solidFill>
            <a:srgbClr val="C6414B"/>
          </a:solidFill>
          <a:ln/>
        </p:spPr>
      </p:sp>
      <p:sp>
        <p:nvSpPr>
          <p:cNvPr id="8" name="Text 6"/>
          <p:cNvSpPr txBox="1"/>
          <p:nvPr/>
        </p:nvSpPr>
        <p:spPr>
          <a:xfrm>
            <a:off x="822960" y="3611880"/>
            <a:ext cx="3474720" cy="50292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 -73% revenue drop</a:t>
            </a:r>
            <a:endParaRPr lang="en-US" sz="1500" dirty="0"/>
          </a:p>
        </p:txBody>
      </p:sp>
      <p:sp>
        <p:nvSpPr>
          <p:cNvPr id="9" name="Text 7"/>
          <p:cNvSpPr txBox="1"/>
          <p:nvPr/>
        </p:nvSpPr>
        <p:spPr>
          <a:xfrm>
            <a:off x="822960" y="4343400"/>
            <a:ext cx="3657600" cy="1005840"/>
          </a:xfrm>
          <a:prstGeom prst="rect">
            <a:avLst/>
          </a:prstGeom>
          <a:noFill/>
          <a:ln/>
        </p:spPr>
        <p:txBody>
          <a:bodyPr wrap="square" rtlCol="0" anchor="ctr"/>
          <a:lstStyle/>
          <a:p>
            <a:pPr marL="0" indent="0">
              <a:lnSpc>
                <a:spcPct val="120000"/>
              </a:lnSpc>
              <a:buNone/>
            </a:pPr>
            <a:r>
              <a:rPr lang="en-US" sz="1250" i="1" dirty="0">
                <a:solidFill>
                  <a:srgbClr val="6E6478"/>
                </a:solidFill>
                <a:latin typeface="Calibri" pitchFamily="34" charset="0"/>
                <a:ea typeface="Calibri" pitchFamily="34" charset="-122"/>
                <a:cs typeface="Calibri" pitchFamily="34" charset="-120"/>
              </a:rPr>
              <a:t>The steepest decline of any plan on the dashboard — over 2x worse than the next-largest drop.</a:t>
            </a:r>
            <a:endParaRPr lang="en-US" sz="1250" dirty="0"/>
          </a:p>
        </p:txBody>
      </p:sp>
      <p:sp>
        <p:nvSpPr>
          <p:cNvPr id="10" name="Shape 8"/>
          <p:cNvSpPr/>
          <p:nvPr/>
        </p:nvSpPr>
        <p:spPr>
          <a:xfrm>
            <a:off x="5074920" y="1920240"/>
            <a:ext cx="6583680" cy="3566160"/>
          </a:xfrm>
          <a:prstGeom prst="roundRect">
            <a:avLst>
              <a:gd name="adj" fmla="val 2308"/>
            </a:avLst>
          </a:prstGeom>
          <a:solidFill>
            <a:srgbClr val="5B2C82"/>
          </a:solidFill>
          <a:ln/>
        </p:spPr>
      </p:sp>
      <p:sp>
        <p:nvSpPr>
          <p:cNvPr id="11" name="Text 9"/>
          <p:cNvSpPr txBox="1"/>
          <p:nvPr/>
        </p:nvSpPr>
        <p:spPr>
          <a:xfrm>
            <a:off x="5394960" y="2148840"/>
            <a:ext cx="5943600" cy="365760"/>
          </a:xfrm>
          <a:prstGeom prst="rect">
            <a:avLst/>
          </a:prstGeom>
          <a:noFill/>
          <a:ln/>
        </p:spPr>
        <p:txBody>
          <a:bodyPr wrap="square" rtlCol="0" anchor="ctr"/>
          <a:lstStyle/>
          <a:p>
            <a:pPr marL="0" indent="0">
              <a:buNone/>
            </a:pPr>
            <a:r>
              <a:rPr lang="en-US" sz="1500" b="1" dirty="0">
                <a:solidFill>
                  <a:srgbClr val="E8A33D"/>
                </a:solidFill>
                <a:latin typeface="Calibri" pitchFamily="34" charset="0"/>
                <a:ea typeface="Calibri" pitchFamily="34" charset="-122"/>
                <a:cs typeface="Calibri" pitchFamily="34" charset="-120"/>
              </a:rPr>
              <a:t>Recommendation: Discontinue</a:t>
            </a:r>
            <a:endParaRPr lang="en-US" sz="1500" dirty="0"/>
          </a:p>
        </p:txBody>
      </p:sp>
      <p:sp>
        <p:nvSpPr>
          <p:cNvPr id="12" name="Text 10"/>
          <p:cNvSpPr txBox="1"/>
          <p:nvPr/>
        </p:nvSpPr>
        <p:spPr>
          <a:xfrm>
            <a:off x="5394960" y="2606040"/>
            <a:ext cx="5943600" cy="2697480"/>
          </a:xfrm>
          <a:prstGeom prst="rect">
            <a:avLst/>
          </a:prstGeom>
          <a:noFill/>
          <a:ln/>
        </p:spPr>
        <p:txBody>
          <a:bodyPr wrap="square" rtlCol="0" anchor="ctr"/>
          <a:lstStyle/>
          <a:p>
            <a:pPr marL="0" indent="0">
              <a:lnSpc>
                <a:spcPct val="125000"/>
              </a:lnSpc>
              <a:buNone/>
            </a:pPr>
            <a:r>
              <a:rPr lang="en-US" sz="1350" dirty="0">
                <a:solidFill>
                  <a:srgbClr val="FFFFFF"/>
                </a:solidFill>
                <a:latin typeface="Calibri" pitchFamily="34" charset="0"/>
                <a:ea typeface="Calibri" pitchFamily="34" charset="-122"/>
                <a:cs typeface="Calibri" pitchFamily="34" charset="-120"/>
              </a:rPr>
              <a:t>p7 is Wavecon's legacy 3G/4G data plan and has been directly cannibalized by 5G — customers who wanted comparable data moved to the new p11 combo, which alone earned ₹1.9bn in its first four months. p7's monthly revenue has collapsed from ~₹150M to ~₹40M and shows no sign of recovering.</a:t>
            </a:r>
            <a:endParaRPr lang="en-US" sz="1350" dirty="0"/>
          </a:p>
          <a:p>
            <a:pPr marL="0" indent="0">
              <a:lnSpc>
                <a:spcPct val="125000"/>
              </a:lnSpc>
              <a:buNone/>
            </a:pPr>
            <a:endParaRPr lang="en-US" sz="1350" dirty="0"/>
          </a:p>
          <a:p>
            <a:pPr marL="0" indent="0">
              <a:lnSpc>
                <a:spcPct val="125000"/>
              </a:lnSpc>
              <a:buNone/>
            </a:pPr>
            <a:r>
              <a:rPr lang="en-US" sz="1350" dirty="0">
                <a:solidFill>
                  <a:srgbClr val="FFFFFF"/>
                </a:solidFill>
                <a:latin typeface="Calibri" pitchFamily="34" charset="0"/>
                <a:ea typeface="Calibri" pitchFamily="34" charset="-122"/>
                <a:cs typeface="Calibri" pitchFamily="34" charset="-120"/>
              </a:rPr>
              <a:t>Sunset p7 and auto-migrate remaining subscribers to p11 or p1 with a discounted first-month offer, rather than continuing to support a plan that loses value every month.</a:t>
            </a:r>
            <a:endParaRPr lang="en-US" sz="1350" dirty="0"/>
          </a:p>
        </p:txBody>
      </p:sp>
      <p:sp>
        <p:nvSpPr>
          <p:cNvPr id="13" name="Text 11"/>
          <p:cNvSpPr/>
          <p:nvPr/>
        </p:nvSpPr>
        <p:spPr>
          <a:xfrm>
            <a:off x="11475720" y="6492240"/>
            <a:ext cx="457200" cy="274320"/>
          </a:xfrm>
          <a:prstGeom prst="rect">
            <a:avLst/>
          </a:prstGeom>
          <a:noFill/>
          <a:ln/>
        </p:spPr>
        <p:txBody>
          <a:bodyPr wrap="square" rtlCol="0" anchor="ctr"/>
          <a:lstStyle/>
          <a:p>
            <a:pPr marL="0" indent="0" algn="r">
              <a:buNone/>
            </a:pPr>
            <a:r>
              <a:rPr lang="en-US" sz="1000" dirty="0">
                <a:solidFill>
                  <a:srgbClr val="6E6478"/>
                </a:solidFill>
                <a:latin typeface="Calibri" pitchFamily="34" charset="0"/>
                <a:ea typeface="Calibri" pitchFamily="34" charset="-122"/>
                <a:cs typeface="Calibri" pitchFamily="34" charset="-120"/>
              </a:rPr>
              <a:t>6</a:t>
            </a:r>
            <a:endParaRPr lang="en-US" sz="1000" dirty="0"/>
          </a:p>
        </p:txBody>
      </p:sp>
      <p:pic>
        <p:nvPicPr>
          <p:cNvPr id="15" name="Audio 14">
            <a:hlinkClick r:id="" action="ppaction://media"/>
            <a:extLst>
              <a:ext uri="{FF2B5EF4-FFF2-40B4-BE49-F238E27FC236}">
                <a16:creationId xmlns:a16="http://schemas.microsoft.com/office/drawing/2014/main" id="{2001366B-D113-9FC9-804D-50DD47E44EE0}"/>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62704" t="-125896" r="-262704" b="-125896"/>
          <a:stretch>
            <a:fillRect/>
          </a:stretch>
        </p:blipFill>
        <p:spPr>
          <a:xfrm>
            <a:off x="9144000" y="5143500"/>
            <a:ext cx="3048000" cy="17145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4008"/>
    </mc:Choice>
    <mc:Fallback>
      <p:transition spd="slow" advTm="4400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5"/>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rtlCol="0" anchor="ctr"/>
          <a:lstStyle/>
          <a:p>
            <a:pPr marL="0" indent="0">
              <a:buNone/>
            </a:pPr>
            <a:r>
              <a:rPr lang="en-US" sz="1200" b="1" kern="0" spc="200" dirty="0">
                <a:solidFill>
                  <a:srgbClr val="5B2C82"/>
                </a:solidFill>
                <a:latin typeface="Calibri" pitchFamily="34" charset="0"/>
                <a:ea typeface="Calibri" pitchFamily="34" charset="-122"/>
                <a:cs typeface="Calibri" pitchFamily="34" charset="-120"/>
              </a:rPr>
              <a:t>Q5 · DISCONTINUED PLANS</a:t>
            </a:r>
            <a:endParaRPr lang="en-US" sz="1200" dirty="0"/>
          </a:p>
        </p:txBody>
      </p:sp>
      <p:sp>
        <p:nvSpPr>
          <p:cNvPr id="3" name="Text 1"/>
          <p:cNvSpPr txBox="1"/>
          <p:nvPr/>
        </p:nvSpPr>
        <p:spPr>
          <a:xfrm>
            <a:off x="548640" y="676656"/>
            <a:ext cx="11064240" cy="731520"/>
          </a:xfrm>
          <a:prstGeom prst="rect">
            <a:avLst/>
          </a:prstGeom>
          <a:noFill/>
          <a:ln/>
        </p:spPr>
        <p:txBody>
          <a:bodyPr wrap="square" rtlCol="0" anchor="ctr"/>
          <a:lstStyle/>
          <a:p>
            <a:pPr marL="0" indent="0">
              <a:lnSpc>
                <a:spcPct val="105000"/>
              </a:lnSpc>
              <a:buNone/>
            </a:pPr>
            <a:r>
              <a:rPr lang="en-US" sz="2800" b="1" dirty="0">
                <a:solidFill>
                  <a:srgbClr val="2B2430"/>
                </a:solidFill>
                <a:latin typeface="Cambria" pitchFamily="34" charset="0"/>
                <a:ea typeface="Cambria" pitchFamily="34" charset="-122"/>
                <a:cs typeface="Cambria" pitchFamily="34" charset="-120"/>
              </a:rPr>
              <a:t>Which plans were discontinued after 5G, and why?</a:t>
            </a:r>
            <a:endParaRPr lang="en-US" sz="2800" dirty="0"/>
          </a:p>
        </p:txBody>
      </p:sp>
      <p:sp>
        <p:nvSpPr>
          <p:cNvPr id="4" name="Shape 2"/>
          <p:cNvSpPr/>
          <p:nvPr/>
        </p:nvSpPr>
        <p:spPr>
          <a:xfrm>
            <a:off x="548640" y="1920240"/>
            <a:ext cx="3520440" cy="2011680"/>
          </a:xfrm>
          <a:prstGeom prst="roundRect">
            <a:avLst>
              <a:gd name="adj" fmla="val 3636"/>
            </a:avLst>
          </a:prstGeom>
          <a:solidFill>
            <a:srgbClr val="F3EEFA"/>
          </a:solidFill>
          <a:ln/>
        </p:spPr>
      </p:sp>
      <p:sp>
        <p:nvSpPr>
          <p:cNvPr id="5" name="Shape 3"/>
          <p:cNvSpPr/>
          <p:nvPr/>
        </p:nvSpPr>
        <p:spPr>
          <a:xfrm>
            <a:off x="777240" y="2148840"/>
            <a:ext cx="594360" cy="594360"/>
          </a:xfrm>
          <a:prstGeom prst="roundRect">
            <a:avLst>
              <a:gd name="adj" fmla="val 50769"/>
            </a:avLst>
          </a:prstGeom>
          <a:solidFill>
            <a:srgbClr val="5B2C82"/>
          </a:solidFill>
          <a:ln/>
        </p:spPr>
      </p:sp>
      <p:sp>
        <p:nvSpPr>
          <p:cNvPr id="6" name="Text 4"/>
          <p:cNvSpPr txBox="1"/>
          <p:nvPr/>
        </p:nvSpPr>
        <p:spPr>
          <a:xfrm>
            <a:off x="777240" y="2148840"/>
            <a:ext cx="594360" cy="5943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p8</a:t>
            </a:r>
            <a:endParaRPr lang="en-US" sz="1200" dirty="0"/>
          </a:p>
        </p:txBody>
      </p:sp>
      <p:sp>
        <p:nvSpPr>
          <p:cNvPr id="7" name="Text 5"/>
          <p:cNvSpPr txBox="1"/>
          <p:nvPr/>
        </p:nvSpPr>
        <p:spPr>
          <a:xfrm>
            <a:off x="777240" y="2852928"/>
            <a:ext cx="3063240" cy="365760"/>
          </a:xfrm>
          <a:prstGeom prst="rect">
            <a:avLst/>
          </a:prstGeom>
          <a:noFill/>
          <a:ln/>
        </p:spPr>
        <p:txBody>
          <a:bodyPr wrap="square" rtlCol="0" anchor="ctr"/>
          <a:lstStyle/>
          <a:p>
            <a:pPr marL="0" indent="0">
              <a:buNone/>
            </a:pPr>
            <a:r>
              <a:rPr lang="en-US" sz="1500" b="1" dirty="0">
                <a:solidFill>
                  <a:srgbClr val="2B2430"/>
                </a:solidFill>
                <a:latin typeface="Cambria" pitchFamily="34" charset="0"/>
                <a:ea typeface="Cambria" pitchFamily="34" charset="-122"/>
                <a:cs typeface="Cambria" pitchFamily="34" charset="-120"/>
              </a:rPr>
              <a:t>Daily Saviour</a:t>
            </a:r>
            <a:endParaRPr lang="en-US" sz="1500" dirty="0"/>
          </a:p>
        </p:txBody>
      </p:sp>
      <p:sp>
        <p:nvSpPr>
          <p:cNvPr id="8" name="Text 6"/>
          <p:cNvSpPr txBox="1"/>
          <p:nvPr/>
        </p:nvSpPr>
        <p:spPr>
          <a:xfrm>
            <a:off x="777240" y="3200400"/>
            <a:ext cx="3063240" cy="292608"/>
          </a:xfrm>
          <a:prstGeom prst="rect">
            <a:avLst/>
          </a:prstGeom>
          <a:noFill/>
          <a:ln/>
        </p:spPr>
        <p:txBody>
          <a:bodyPr wrap="square" rtlCol="0" anchor="ctr"/>
          <a:lstStyle/>
          <a:p>
            <a:pPr marL="0" indent="0">
              <a:buNone/>
            </a:pPr>
            <a:r>
              <a:rPr lang="en-US" sz="1100" dirty="0">
                <a:solidFill>
                  <a:srgbClr val="6E6478"/>
                </a:solidFill>
                <a:latin typeface="Calibri" pitchFamily="34" charset="0"/>
                <a:ea typeface="Calibri" pitchFamily="34" charset="-122"/>
                <a:cs typeface="Calibri" pitchFamily="34" charset="-120"/>
              </a:rPr>
              <a:t>1 GB/Day · 1-day validity</a:t>
            </a:r>
            <a:endParaRPr lang="en-US" sz="1100" dirty="0"/>
          </a:p>
        </p:txBody>
      </p:sp>
      <p:sp>
        <p:nvSpPr>
          <p:cNvPr id="9" name="Text 7"/>
          <p:cNvSpPr txBox="1"/>
          <p:nvPr/>
        </p:nvSpPr>
        <p:spPr>
          <a:xfrm>
            <a:off x="777240" y="3520440"/>
            <a:ext cx="3063240" cy="320040"/>
          </a:xfrm>
          <a:prstGeom prst="rect">
            <a:avLst/>
          </a:prstGeom>
          <a:noFill/>
          <a:ln/>
        </p:spPr>
        <p:txBody>
          <a:bodyPr wrap="square" rtlCol="0" anchor="ctr"/>
          <a:lstStyle/>
          <a:p>
            <a:pPr marL="0" indent="0">
              <a:buNone/>
            </a:pPr>
            <a:r>
              <a:rPr lang="en-US" sz="1100" b="1" dirty="0">
                <a:solidFill>
                  <a:srgbClr val="3B1F63"/>
                </a:solidFill>
                <a:latin typeface="Calibri" pitchFamily="34" charset="0"/>
                <a:ea typeface="Calibri" pitchFamily="34" charset="-122"/>
                <a:cs typeface="Calibri" pitchFamily="34" charset="-120"/>
              </a:rPr>
              <a:t>₹434.3M revenue (before 5G)</a:t>
            </a:r>
            <a:endParaRPr lang="en-US" sz="1100" dirty="0"/>
          </a:p>
        </p:txBody>
      </p:sp>
      <p:sp>
        <p:nvSpPr>
          <p:cNvPr id="10" name="Shape 8"/>
          <p:cNvSpPr/>
          <p:nvPr/>
        </p:nvSpPr>
        <p:spPr>
          <a:xfrm>
            <a:off x="4343400" y="1920240"/>
            <a:ext cx="3520440" cy="2011680"/>
          </a:xfrm>
          <a:prstGeom prst="roundRect">
            <a:avLst>
              <a:gd name="adj" fmla="val 3636"/>
            </a:avLst>
          </a:prstGeom>
          <a:solidFill>
            <a:srgbClr val="F3EEFA"/>
          </a:solidFill>
          <a:ln/>
        </p:spPr>
      </p:sp>
      <p:sp>
        <p:nvSpPr>
          <p:cNvPr id="11" name="Shape 9"/>
          <p:cNvSpPr/>
          <p:nvPr/>
        </p:nvSpPr>
        <p:spPr>
          <a:xfrm>
            <a:off x="4572000" y="2148840"/>
            <a:ext cx="594360" cy="594360"/>
          </a:xfrm>
          <a:prstGeom prst="roundRect">
            <a:avLst>
              <a:gd name="adj" fmla="val 50769"/>
            </a:avLst>
          </a:prstGeom>
          <a:solidFill>
            <a:srgbClr val="5B2C82"/>
          </a:solidFill>
          <a:ln/>
        </p:spPr>
      </p:sp>
      <p:sp>
        <p:nvSpPr>
          <p:cNvPr id="12" name="Text 10"/>
          <p:cNvSpPr txBox="1"/>
          <p:nvPr/>
        </p:nvSpPr>
        <p:spPr>
          <a:xfrm>
            <a:off x="4572000" y="2148840"/>
            <a:ext cx="594360" cy="5943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p9</a:t>
            </a:r>
            <a:endParaRPr lang="en-US" sz="1200" dirty="0"/>
          </a:p>
        </p:txBody>
      </p:sp>
      <p:sp>
        <p:nvSpPr>
          <p:cNvPr id="13" name="Text 11"/>
          <p:cNvSpPr txBox="1"/>
          <p:nvPr/>
        </p:nvSpPr>
        <p:spPr>
          <a:xfrm>
            <a:off x="4572000" y="2852928"/>
            <a:ext cx="3063240" cy="365760"/>
          </a:xfrm>
          <a:prstGeom prst="rect">
            <a:avLst/>
          </a:prstGeom>
          <a:noFill/>
          <a:ln/>
        </p:spPr>
        <p:txBody>
          <a:bodyPr wrap="square" rtlCol="0" anchor="ctr"/>
          <a:lstStyle/>
          <a:p>
            <a:pPr marL="0" indent="0">
              <a:buNone/>
            </a:pPr>
            <a:r>
              <a:rPr lang="en-US" sz="1500" b="1" dirty="0">
                <a:solidFill>
                  <a:srgbClr val="2B2430"/>
                </a:solidFill>
                <a:latin typeface="Cambria" pitchFamily="34" charset="0"/>
                <a:ea typeface="Cambria" pitchFamily="34" charset="-122"/>
                <a:cs typeface="Cambria" pitchFamily="34" charset="-120"/>
              </a:rPr>
              <a:t>Combo TopUp</a:t>
            </a:r>
            <a:endParaRPr lang="en-US" sz="1500" dirty="0"/>
          </a:p>
        </p:txBody>
      </p:sp>
      <p:sp>
        <p:nvSpPr>
          <p:cNvPr id="14" name="Text 12"/>
          <p:cNvSpPr txBox="1"/>
          <p:nvPr/>
        </p:nvSpPr>
        <p:spPr>
          <a:xfrm>
            <a:off x="4572000" y="3200400"/>
            <a:ext cx="3063240" cy="292608"/>
          </a:xfrm>
          <a:prstGeom prst="rect">
            <a:avLst/>
          </a:prstGeom>
          <a:noFill/>
          <a:ln/>
        </p:spPr>
        <p:txBody>
          <a:bodyPr wrap="square" rtlCol="0" anchor="ctr"/>
          <a:lstStyle/>
          <a:p>
            <a:pPr marL="0" indent="0">
              <a:buNone/>
            </a:pPr>
            <a:r>
              <a:rPr lang="en-US" sz="1100" dirty="0">
                <a:solidFill>
                  <a:srgbClr val="6E6478"/>
                </a:solidFill>
                <a:latin typeface="Calibri" pitchFamily="34" charset="0"/>
                <a:ea typeface="Calibri" pitchFamily="34" charset="-122"/>
                <a:cs typeface="Calibri" pitchFamily="34" charset="-120"/>
              </a:rPr>
              <a:t>₹14.95 Talktime + 300 MB</a:t>
            </a:r>
            <a:endParaRPr lang="en-US" sz="1100" dirty="0"/>
          </a:p>
        </p:txBody>
      </p:sp>
      <p:sp>
        <p:nvSpPr>
          <p:cNvPr id="15" name="Text 13"/>
          <p:cNvSpPr txBox="1"/>
          <p:nvPr/>
        </p:nvSpPr>
        <p:spPr>
          <a:xfrm>
            <a:off x="4572000" y="3520440"/>
            <a:ext cx="3063240" cy="320040"/>
          </a:xfrm>
          <a:prstGeom prst="rect">
            <a:avLst/>
          </a:prstGeom>
          <a:noFill/>
          <a:ln/>
        </p:spPr>
        <p:txBody>
          <a:bodyPr wrap="square" rtlCol="0" anchor="ctr"/>
          <a:lstStyle/>
          <a:p>
            <a:pPr marL="0" indent="0">
              <a:buNone/>
            </a:pPr>
            <a:r>
              <a:rPr lang="en-US" sz="1100" b="1" dirty="0">
                <a:solidFill>
                  <a:srgbClr val="3B1F63"/>
                </a:solidFill>
                <a:latin typeface="Calibri" pitchFamily="34" charset="0"/>
                <a:ea typeface="Calibri" pitchFamily="34" charset="-122"/>
                <a:cs typeface="Calibri" pitchFamily="34" charset="-120"/>
              </a:rPr>
              <a:t>₹226.8M revenue (before 5G)</a:t>
            </a:r>
            <a:endParaRPr lang="en-US" sz="1100" dirty="0"/>
          </a:p>
        </p:txBody>
      </p:sp>
      <p:sp>
        <p:nvSpPr>
          <p:cNvPr id="16" name="Shape 14"/>
          <p:cNvSpPr/>
          <p:nvPr/>
        </p:nvSpPr>
        <p:spPr>
          <a:xfrm>
            <a:off x="8138160" y="1920240"/>
            <a:ext cx="3520440" cy="2011680"/>
          </a:xfrm>
          <a:prstGeom prst="roundRect">
            <a:avLst>
              <a:gd name="adj" fmla="val 3636"/>
            </a:avLst>
          </a:prstGeom>
          <a:solidFill>
            <a:srgbClr val="F3EEFA"/>
          </a:solidFill>
          <a:ln/>
        </p:spPr>
      </p:sp>
      <p:sp>
        <p:nvSpPr>
          <p:cNvPr id="17" name="Shape 15"/>
          <p:cNvSpPr/>
          <p:nvPr/>
        </p:nvSpPr>
        <p:spPr>
          <a:xfrm>
            <a:off x="8366760" y="2148840"/>
            <a:ext cx="594360" cy="594360"/>
          </a:xfrm>
          <a:prstGeom prst="roundRect">
            <a:avLst>
              <a:gd name="adj" fmla="val 50769"/>
            </a:avLst>
          </a:prstGeom>
          <a:solidFill>
            <a:srgbClr val="5B2C82"/>
          </a:solidFill>
          <a:ln/>
        </p:spPr>
      </p:sp>
      <p:sp>
        <p:nvSpPr>
          <p:cNvPr id="18" name="Text 16"/>
          <p:cNvSpPr txBox="1"/>
          <p:nvPr/>
        </p:nvSpPr>
        <p:spPr>
          <a:xfrm>
            <a:off x="8366760" y="2148840"/>
            <a:ext cx="594360" cy="5943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p10</a:t>
            </a:r>
            <a:endParaRPr lang="en-US" sz="1200" dirty="0"/>
          </a:p>
        </p:txBody>
      </p:sp>
      <p:sp>
        <p:nvSpPr>
          <p:cNvPr id="19" name="Text 17"/>
          <p:cNvSpPr txBox="1"/>
          <p:nvPr/>
        </p:nvSpPr>
        <p:spPr>
          <a:xfrm>
            <a:off x="8366760" y="2852928"/>
            <a:ext cx="3063240" cy="365760"/>
          </a:xfrm>
          <a:prstGeom prst="rect">
            <a:avLst/>
          </a:prstGeom>
          <a:noFill/>
          <a:ln/>
        </p:spPr>
        <p:txBody>
          <a:bodyPr wrap="square" rtlCol="0" anchor="ctr"/>
          <a:lstStyle/>
          <a:p>
            <a:pPr marL="0" indent="0">
              <a:buNone/>
            </a:pPr>
            <a:r>
              <a:rPr lang="en-US" sz="1500" b="1" dirty="0">
                <a:solidFill>
                  <a:srgbClr val="2B2430"/>
                </a:solidFill>
                <a:latin typeface="Cambria" pitchFamily="34" charset="0"/>
                <a:ea typeface="Cambria" pitchFamily="34" charset="-122"/>
                <a:cs typeface="Cambria" pitchFamily="34" charset="-120"/>
              </a:rPr>
              <a:t>Big Combo Pack</a:t>
            </a:r>
            <a:endParaRPr lang="en-US" sz="1500" dirty="0"/>
          </a:p>
        </p:txBody>
      </p:sp>
      <p:sp>
        <p:nvSpPr>
          <p:cNvPr id="20" name="Text 18"/>
          <p:cNvSpPr txBox="1"/>
          <p:nvPr/>
        </p:nvSpPr>
        <p:spPr>
          <a:xfrm>
            <a:off x="8366760" y="3200400"/>
            <a:ext cx="3063240" cy="292608"/>
          </a:xfrm>
          <a:prstGeom prst="rect">
            <a:avLst/>
          </a:prstGeom>
          <a:noFill/>
          <a:ln/>
        </p:spPr>
        <p:txBody>
          <a:bodyPr wrap="square" rtlCol="0" anchor="ctr"/>
          <a:lstStyle/>
          <a:p>
            <a:pPr marL="0" indent="0">
              <a:buNone/>
            </a:pPr>
            <a:r>
              <a:rPr lang="en-US" sz="1100" dirty="0">
                <a:solidFill>
                  <a:srgbClr val="6E6478"/>
                </a:solidFill>
                <a:latin typeface="Calibri" pitchFamily="34" charset="0"/>
                <a:ea typeface="Calibri" pitchFamily="34" charset="-122"/>
                <a:cs typeface="Calibri" pitchFamily="34" charset="-120"/>
              </a:rPr>
              <a:t>6 GB/Day · 3-day validity</a:t>
            </a:r>
            <a:endParaRPr lang="en-US" sz="1100" dirty="0"/>
          </a:p>
        </p:txBody>
      </p:sp>
      <p:sp>
        <p:nvSpPr>
          <p:cNvPr id="21" name="Text 19"/>
          <p:cNvSpPr txBox="1"/>
          <p:nvPr/>
        </p:nvSpPr>
        <p:spPr>
          <a:xfrm>
            <a:off x="8366760" y="3520440"/>
            <a:ext cx="3063240" cy="320040"/>
          </a:xfrm>
          <a:prstGeom prst="rect">
            <a:avLst/>
          </a:prstGeom>
          <a:noFill/>
          <a:ln/>
        </p:spPr>
        <p:txBody>
          <a:bodyPr wrap="square" rtlCol="0" anchor="ctr"/>
          <a:lstStyle/>
          <a:p>
            <a:pPr marL="0" indent="0">
              <a:buNone/>
            </a:pPr>
            <a:r>
              <a:rPr lang="en-US" sz="1100" b="1" dirty="0">
                <a:solidFill>
                  <a:srgbClr val="3B1F63"/>
                </a:solidFill>
                <a:latin typeface="Calibri" pitchFamily="34" charset="0"/>
                <a:ea typeface="Calibri" pitchFamily="34" charset="-122"/>
                <a:cs typeface="Calibri" pitchFamily="34" charset="-120"/>
              </a:rPr>
              <a:t>₹131.1M revenue (before 5G)</a:t>
            </a:r>
            <a:endParaRPr lang="en-US" sz="1100" dirty="0"/>
          </a:p>
        </p:txBody>
      </p:sp>
      <p:sp>
        <p:nvSpPr>
          <p:cNvPr id="22" name="Text 20"/>
          <p:cNvSpPr txBox="1"/>
          <p:nvPr/>
        </p:nvSpPr>
        <p:spPr>
          <a:xfrm>
            <a:off x="548640" y="4251960"/>
            <a:ext cx="11109960" cy="1188720"/>
          </a:xfrm>
          <a:prstGeom prst="rect">
            <a:avLst/>
          </a:prstGeom>
          <a:noFill/>
          <a:ln/>
        </p:spPr>
        <p:txBody>
          <a:bodyPr wrap="square" rtlCol="0" anchor="ctr"/>
          <a:lstStyle/>
          <a:p>
            <a:pPr marL="0" indent="0">
              <a:lnSpc>
                <a:spcPct val="125000"/>
              </a:lnSpc>
              <a:buNone/>
            </a:pPr>
            <a:r>
              <a:rPr lang="en-US" sz="1500" dirty="0">
                <a:solidFill>
                  <a:srgbClr val="2B2430"/>
                </a:solidFill>
                <a:latin typeface="Calibri" pitchFamily="34" charset="0"/>
                <a:ea typeface="Calibri" pitchFamily="34" charset="-122"/>
                <a:cs typeface="Calibri" pitchFamily="34" charset="-120"/>
              </a:rPr>
              <a:t>Reason: all three were short-validity, low-data "micro" plans (1–3 day validity, ≤6GB) built for pre-5G speeds. Wavecon replaced them with the new 5G combo family (p11–p13), which offers longer validity and stronger data at a similar price — a deliberate product clean-up, not a sign of weak demand.</a:t>
            </a:r>
            <a:endParaRPr lang="en-US" sz="1500" dirty="0"/>
          </a:p>
        </p:txBody>
      </p:sp>
      <p:sp>
        <p:nvSpPr>
          <p:cNvPr id="23" name="Text 21"/>
          <p:cNvSpPr/>
          <p:nvPr/>
        </p:nvSpPr>
        <p:spPr>
          <a:xfrm>
            <a:off x="11475720" y="6492240"/>
            <a:ext cx="457200" cy="274320"/>
          </a:xfrm>
          <a:prstGeom prst="rect">
            <a:avLst/>
          </a:prstGeom>
          <a:noFill/>
          <a:ln/>
        </p:spPr>
        <p:txBody>
          <a:bodyPr wrap="square" rtlCol="0" anchor="ctr"/>
          <a:lstStyle/>
          <a:p>
            <a:pPr marL="0" indent="0" algn="r">
              <a:buNone/>
            </a:pPr>
            <a:r>
              <a:rPr lang="en-US" sz="1000" dirty="0">
                <a:solidFill>
                  <a:srgbClr val="6E6478"/>
                </a:solidFill>
                <a:latin typeface="Calibri" pitchFamily="34" charset="0"/>
                <a:ea typeface="Calibri" pitchFamily="34" charset="-122"/>
                <a:cs typeface="Calibri" pitchFamily="34" charset="-120"/>
              </a:rPr>
              <a:t>7</a:t>
            </a:r>
            <a:endParaRPr lang="en-US" sz="1000" dirty="0"/>
          </a:p>
        </p:txBody>
      </p:sp>
      <p:pic>
        <p:nvPicPr>
          <p:cNvPr id="25" name="Audio 24">
            <a:hlinkClick r:id="" action="ppaction://media"/>
            <a:extLst>
              <a:ext uri="{FF2B5EF4-FFF2-40B4-BE49-F238E27FC236}">
                <a16:creationId xmlns:a16="http://schemas.microsoft.com/office/drawing/2014/main" id="{6D72910A-6571-35C5-D0E9-2B6832F0A3E4}"/>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62704" t="-125896" r="-262704" b="-125896"/>
          <a:stretch>
            <a:fillRect/>
          </a:stretch>
        </p:blipFill>
        <p:spPr>
          <a:xfrm>
            <a:off x="9144000" y="5143500"/>
            <a:ext cx="3048000" cy="17145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249"/>
    </mc:Choice>
    <mc:Fallback>
      <p:transition spd="slow" advTm="3724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5"/>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3B1F63"/>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RECOMMENDATIONS</a:t>
            </a:r>
            <a:endParaRPr lang="en-US" sz="1200" dirty="0"/>
          </a:p>
        </p:txBody>
      </p:sp>
      <p:sp>
        <p:nvSpPr>
          <p:cNvPr id="3" name="Text 1"/>
          <p:cNvSpPr txBox="1"/>
          <p:nvPr/>
        </p:nvSpPr>
        <p:spPr>
          <a:xfrm>
            <a:off x="548640" y="777240"/>
            <a:ext cx="1051560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Four moves for Wavecon's next quarter</a:t>
            </a:r>
            <a:endParaRPr lang="en-US" sz="3000" dirty="0"/>
          </a:p>
        </p:txBody>
      </p:sp>
      <p:sp>
        <p:nvSpPr>
          <p:cNvPr id="4" name="Text 2"/>
          <p:cNvSpPr txBox="1"/>
          <p:nvPr/>
        </p:nvSpPr>
        <p:spPr>
          <a:xfrm>
            <a:off x="548640" y="1691640"/>
            <a:ext cx="822960" cy="548640"/>
          </a:xfrm>
          <a:prstGeom prst="rect">
            <a:avLst/>
          </a:prstGeom>
          <a:noFill/>
          <a:ln/>
        </p:spPr>
        <p:txBody>
          <a:bodyPr wrap="square" rtlCol="0" anchor="ctr"/>
          <a:lstStyle/>
          <a:p>
            <a:pPr marL="0" indent="0">
              <a:buNone/>
            </a:pPr>
            <a:r>
              <a:rPr lang="en-US" sz="2400" b="1" dirty="0">
                <a:solidFill>
                  <a:srgbClr val="5B2C82"/>
                </a:solidFill>
                <a:latin typeface="Cambria" pitchFamily="34" charset="0"/>
                <a:ea typeface="Cambria" pitchFamily="34" charset="-122"/>
                <a:cs typeface="Cambria" pitchFamily="34" charset="-120"/>
              </a:rPr>
              <a:t>01</a:t>
            </a:r>
            <a:endParaRPr lang="en-US" sz="2400" dirty="0"/>
          </a:p>
        </p:txBody>
      </p:sp>
      <p:sp>
        <p:nvSpPr>
          <p:cNvPr id="5" name="Text 3"/>
          <p:cNvSpPr txBox="1"/>
          <p:nvPr/>
        </p:nvSpPr>
        <p:spPr>
          <a:xfrm>
            <a:off x="1325880" y="1673352"/>
            <a:ext cx="5029200" cy="365760"/>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Stop the churn first</a:t>
            </a:r>
            <a:endParaRPr lang="en-US" sz="1450" dirty="0"/>
          </a:p>
        </p:txBody>
      </p:sp>
      <p:sp>
        <p:nvSpPr>
          <p:cNvPr id="6" name="Shape 4"/>
          <p:cNvSpPr/>
          <p:nvPr/>
        </p:nvSpPr>
        <p:spPr>
          <a:xfrm>
            <a:off x="1325880" y="2039112"/>
            <a:ext cx="1417320" cy="274320"/>
          </a:xfrm>
          <a:prstGeom prst="roundRect">
            <a:avLst>
              <a:gd name="adj" fmla="val 50000"/>
            </a:avLst>
          </a:prstGeom>
          <a:solidFill>
            <a:srgbClr val="5B2C82"/>
          </a:solidFill>
          <a:ln/>
        </p:spPr>
      </p:sp>
      <p:sp>
        <p:nvSpPr>
          <p:cNvPr id="7" name="Text 5"/>
          <p:cNvSpPr txBox="1"/>
          <p:nvPr/>
        </p:nvSpPr>
        <p:spPr>
          <a:xfrm>
            <a:off x="1325880" y="2039112"/>
            <a:ext cx="1417320" cy="274320"/>
          </a:xfrm>
          <a:prstGeom prst="rect">
            <a:avLst/>
          </a:prstGeom>
          <a:noFill/>
          <a:ln/>
        </p:spPr>
        <p:txBody>
          <a:bodyPr wrap="square" rtlCol="0" anchor="ctr"/>
          <a:lstStyle/>
          <a:p>
            <a:pPr marL="0" indent="0" algn="ctr">
              <a:buNone/>
            </a:pPr>
            <a:r>
              <a:rPr lang="en-US" sz="900" b="1" dirty="0">
                <a:solidFill>
                  <a:srgbClr val="E8A33D"/>
                </a:solidFill>
                <a:latin typeface="Calibri" pitchFamily="34" charset="0"/>
                <a:ea typeface="Calibri" pitchFamily="34" charset="-122"/>
                <a:cs typeface="Calibri" pitchFamily="34" charset="-120"/>
              </a:rPr>
              <a:t>Highest priority</a:t>
            </a:r>
            <a:endParaRPr lang="en-US" sz="900" dirty="0"/>
          </a:p>
        </p:txBody>
      </p:sp>
      <p:sp>
        <p:nvSpPr>
          <p:cNvPr id="8" name="Text 6"/>
          <p:cNvSpPr txBox="1"/>
          <p:nvPr/>
        </p:nvSpPr>
        <p:spPr>
          <a:xfrm>
            <a:off x="2926080" y="1673352"/>
            <a:ext cx="8732520" cy="1051560"/>
          </a:xfrm>
          <a:prstGeom prst="rect">
            <a:avLst/>
          </a:prstGeom>
          <a:noFill/>
          <a:ln/>
        </p:spPr>
        <p:txBody>
          <a:bodyPr wrap="square" rtlCol="0" anchor="ctr"/>
          <a:lstStyle/>
          <a:p>
            <a:pPr marL="0" indent="0">
              <a:lnSpc>
                <a:spcPct val="122000"/>
              </a:lnSpc>
              <a:buNone/>
            </a:pPr>
            <a:r>
              <a:rPr lang="en-US" sz="1200" dirty="0">
                <a:solidFill>
                  <a:srgbClr val="CBBBE5"/>
                </a:solidFill>
                <a:latin typeface="Calibri" pitchFamily="34" charset="0"/>
                <a:ea typeface="Calibri" pitchFamily="34" charset="-122"/>
                <a:cs typeface="Calibri" pitchFamily="34" charset="-120"/>
              </a:rPr>
              <a:t>TAU is down 8.3% and unsubscribes are up 23.5% — the biggest threat to future revenue. Launch a targeted win-back campaign in the worst-hit cities (Ahmedabad, Delhi, Pune, Kolkata) within 30 days, and add an exit survey to unsubscribe flows to pinpoint the root cause.</a:t>
            </a:r>
            <a:endParaRPr lang="en-US" sz="1200" dirty="0"/>
          </a:p>
        </p:txBody>
      </p:sp>
      <p:sp>
        <p:nvSpPr>
          <p:cNvPr id="9" name="Text 7"/>
          <p:cNvSpPr txBox="1"/>
          <p:nvPr/>
        </p:nvSpPr>
        <p:spPr>
          <a:xfrm>
            <a:off x="548640" y="3063240"/>
            <a:ext cx="822960" cy="548640"/>
          </a:xfrm>
          <a:prstGeom prst="rect">
            <a:avLst/>
          </a:prstGeom>
          <a:noFill/>
          <a:ln/>
        </p:spPr>
        <p:txBody>
          <a:bodyPr wrap="square" rtlCol="0" anchor="ctr"/>
          <a:lstStyle/>
          <a:p>
            <a:pPr marL="0" indent="0">
              <a:buNone/>
            </a:pPr>
            <a:r>
              <a:rPr lang="en-US" sz="2400" b="1" dirty="0">
                <a:solidFill>
                  <a:srgbClr val="5B2C82"/>
                </a:solidFill>
                <a:latin typeface="Cambria" pitchFamily="34" charset="0"/>
                <a:ea typeface="Cambria" pitchFamily="34" charset="-122"/>
                <a:cs typeface="Cambria" pitchFamily="34" charset="-120"/>
              </a:rPr>
              <a:t>02</a:t>
            </a:r>
            <a:endParaRPr lang="en-US" sz="2400" dirty="0"/>
          </a:p>
        </p:txBody>
      </p:sp>
      <p:sp>
        <p:nvSpPr>
          <p:cNvPr id="10" name="Text 8"/>
          <p:cNvSpPr txBox="1"/>
          <p:nvPr/>
        </p:nvSpPr>
        <p:spPr>
          <a:xfrm>
            <a:off x="1325880" y="3044952"/>
            <a:ext cx="5029200" cy="365760"/>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Retire p7 and migrate its base</a:t>
            </a:r>
            <a:endParaRPr lang="en-US" sz="1450" dirty="0"/>
          </a:p>
        </p:txBody>
      </p:sp>
      <p:sp>
        <p:nvSpPr>
          <p:cNvPr id="11" name="Shape 9"/>
          <p:cNvSpPr/>
          <p:nvPr/>
        </p:nvSpPr>
        <p:spPr>
          <a:xfrm>
            <a:off x="1325880" y="3410712"/>
            <a:ext cx="1417320" cy="274320"/>
          </a:xfrm>
          <a:prstGeom prst="roundRect">
            <a:avLst>
              <a:gd name="adj" fmla="val 50000"/>
            </a:avLst>
          </a:prstGeom>
          <a:solidFill>
            <a:srgbClr val="5B2C82"/>
          </a:solidFill>
          <a:ln/>
        </p:spPr>
      </p:sp>
      <p:sp>
        <p:nvSpPr>
          <p:cNvPr id="12" name="Text 10"/>
          <p:cNvSpPr txBox="1"/>
          <p:nvPr/>
        </p:nvSpPr>
        <p:spPr>
          <a:xfrm>
            <a:off x="1325880" y="3410712"/>
            <a:ext cx="1417320" cy="274320"/>
          </a:xfrm>
          <a:prstGeom prst="rect">
            <a:avLst/>
          </a:prstGeom>
          <a:noFill/>
          <a:ln/>
        </p:spPr>
        <p:txBody>
          <a:bodyPr wrap="square" rtlCol="0" anchor="ctr"/>
          <a:lstStyle/>
          <a:p>
            <a:pPr marL="0" indent="0" algn="ctr">
              <a:buNone/>
            </a:pPr>
            <a:r>
              <a:rPr lang="en-US" sz="900" b="1" dirty="0">
                <a:solidFill>
                  <a:srgbClr val="E8A33D"/>
                </a:solidFill>
                <a:latin typeface="Calibri" pitchFamily="34" charset="0"/>
                <a:ea typeface="Calibri" pitchFamily="34" charset="-122"/>
                <a:cs typeface="Calibri" pitchFamily="34" charset="-120"/>
              </a:rPr>
              <a:t>Do in parallel</a:t>
            </a:r>
            <a:endParaRPr lang="en-US" sz="900" dirty="0"/>
          </a:p>
        </p:txBody>
      </p:sp>
      <p:sp>
        <p:nvSpPr>
          <p:cNvPr id="13" name="Text 11"/>
          <p:cNvSpPr txBox="1"/>
          <p:nvPr/>
        </p:nvSpPr>
        <p:spPr>
          <a:xfrm>
            <a:off x="2926080" y="3044952"/>
            <a:ext cx="8732520" cy="1051560"/>
          </a:xfrm>
          <a:prstGeom prst="rect">
            <a:avLst/>
          </a:prstGeom>
          <a:noFill/>
          <a:ln/>
        </p:spPr>
        <p:txBody>
          <a:bodyPr wrap="square" rtlCol="0" anchor="ctr"/>
          <a:lstStyle/>
          <a:p>
            <a:pPr marL="0" indent="0">
              <a:lnSpc>
                <a:spcPct val="122000"/>
              </a:lnSpc>
              <a:buNone/>
            </a:pPr>
            <a:r>
              <a:rPr lang="en-US" sz="1200" dirty="0">
                <a:solidFill>
                  <a:srgbClr val="CBBBE5"/>
                </a:solidFill>
                <a:latin typeface="Calibri" pitchFamily="34" charset="0"/>
                <a:ea typeface="Calibri" pitchFamily="34" charset="-122"/>
                <a:cs typeface="Calibri" pitchFamily="34" charset="-120"/>
              </a:rPr>
              <a:t>p7 has lost 73% of its revenue and is being cannibalized by p11. Set a 60-day sunset date, and auto-offer p7 subscribers a discounted first month on p11 or p1 so that revenue migrates internally instead of leaking to competitors.</a:t>
            </a:r>
            <a:endParaRPr lang="en-US" sz="1200" dirty="0"/>
          </a:p>
        </p:txBody>
      </p:sp>
      <p:sp>
        <p:nvSpPr>
          <p:cNvPr id="14" name="Text 12"/>
          <p:cNvSpPr txBox="1"/>
          <p:nvPr/>
        </p:nvSpPr>
        <p:spPr>
          <a:xfrm>
            <a:off x="548640" y="4434840"/>
            <a:ext cx="822960" cy="548640"/>
          </a:xfrm>
          <a:prstGeom prst="rect">
            <a:avLst/>
          </a:prstGeom>
          <a:noFill/>
          <a:ln/>
        </p:spPr>
        <p:txBody>
          <a:bodyPr wrap="square" rtlCol="0" anchor="ctr"/>
          <a:lstStyle/>
          <a:p>
            <a:pPr marL="0" indent="0">
              <a:buNone/>
            </a:pPr>
            <a:r>
              <a:rPr lang="en-US" sz="2400" b="1" dirty="0">
                <a:solidFill>
                  <a:srgbClr val="5B2C82"/>
                </a:solidFill>
                <a:latin typeface="Cambria" pitchFamily="34" charset="0"/>
                <a:ea typeface="Cambria" pitchFamily="34" charset="-122"/>
                <a:cs typeface="Cambria" pitchFamily="34" charset="-120"/>
              </a:rPr>
              <a:t>03</a:t>
            </a:r>
            <a:endParaRPr lang="en-US" sz="2400" dirty="0"/>
          </a:p>
        </p:txBody>
      </p:sp>
      <p:sp>
        <p:nvSpPr>
          <p:cNvPr id="15" name="Text 13"/>
          <p:cNvSpPr txBox="1"/>
          <p:nvPr/>
        </p:nvSpPr>
        <p:spPr>
          <a:xfrm>
            <a:off x="1325880" y="4416552"/>
            <a:ext cx="5029200" cy="365760"/>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Reinvest in what's already winning</a:t>
            </a:r>
            <a:endParaRPr lang="en-US" sz="1450" dirty="0"/>
          </a:p>
        </p:txBody>
      </p:sp>
      <p:sp>
        <p:nvSpPr>
          <p:cNvPr id="16" name="Shape 14"/>
          <p:cNvSpPr/>
          <p:nvPr/>
        </p:nvSpPr>
        <p:spPr>
          <a:xfrm>
            <a:off x="1325880" y="4782312"/>
            <a:ext cx="1417320" cy="274320"/>
          </a:xfrm>
          <a:prstGeom prst="roundRect">
            <a:avLst>
              <a:gd name="adj" fmla="val 50000"/>
            </a:avLst>
          </a:prstGeom>
          <a:solidFill>
            <a:srgbClr val="5B2C82"/>
          </a:solidFill>
          <a:ln/>
        </p:spPr>
      </p:sp>
      <p:sp>
        <p:nvSpPr>
          <p:cNvPr id="17" name="Text 15"/>
          <p:cNvSpPr txBox="1"/>
          <p:nvPr/>
        </p:nvSpPr>
        <p:spPr>
          <a:xfrm>
            <a:off x="1325880" y="4782312"/>
            <a:ext cx="1417320" cy="274320"/>
          </a:xfrm>
          <a:prstGeom prst="rect">
            <a:avLst/>
          </a:prstGeom>
          <a:noFill/>
          <a:ln/>
        </p:spPr>
        <p:txBody>
          <a:bodyPr wrap="square" rtlCol="0" anchor="ctr"/>
          <a:lstStyle/>
          <a:p>
            <a:pPr marL="0" indent="0" algn="ctr">
              <a:buNone/>
            </a:pPr>
            <a:r>
              <a:rPr lang="en-US" sz="900" b="1" dirty="0">
                <a:solidFill>
                  <a:srgbClr val="E8A33D"/>
                </a:solidFill>
                <a:latin typeface="Calibri" pitchFamily="34" charset="0"/>
                <a:ea typeface="Calibri" pitchFamily="34" charset="-122"/>
                <a:cs typeface="Calibri" pitchFamily="34" charset="-120"/>
              </a:rPr>
              <a:t>Growth lever</a:t>
            </a:r>
            <a:endParaRPr lang="en-US" sz="900" dirty="0"/>
          </a:p>
        </p:txBody>
      </p:sp>
      <p:sp>
        <p:nvSpPr>
          <p:cNvPr id="18" name="Text 16"/>
          <p:cNvSpPr txBox="1"/>
          <p:nvPr/>
        </p:nvSpPr>
        <p:spPr>
          <a:xfrm>
            <a:off x="2926080" y="4416552"/>
            <a:ext cx="8732520" cy="1051560"/>
          </a:xfrm>
          <a:prstGeom prst="rect">
            <a:avLst/>
          </a:prstGeom>
          <a:noFill/>
          <a:ln/>
        </p:spPr>
        <p:txBody>
          <a:bodyPr wrap="square" rtlCol="0" anchor="ctr"/>
          <a:lstStyle/>
          <a:p>
            <a:pPr marL="0" indent="0">
              <a:lnSpc>
                <a:spcPct val="122000"/>
              </a:lnSpc>
              <a:buNone/>
            </a:pPr>
            <a:r>
              <a:rPr lang="en-US" sz="1200" dirty="0">
                <a:solidFill>
                  <a:srgbClr val="CBBBE5"/>
                </a:solidFill>
                <a:latin typeface="Calibri" pitchFamily="34" charset="0"/>
                <a:ea typeface="Calibri" pitchFamily="34" charset="-122"/>
                <a:cs typeface="Calibri" pitchFamily="34" charset="-120"/>
              </a:rPr>
              <a:t>p1 and the new p11–p13 5G combos are the only plans growing. Shift marketing and channel incentives toward them, and use their design (validity, data allowance, price point) as the template for any further plan launches.</a:t>
            </a:r>
            <a:endParaRPr lang="en-US" sz="1200" dirty="0"/>
          </a:p>
        </p:txBody>
      </p:sp>
      <p:sp>
        <p:nvSpPr>
          <p:cNvPr id="19" name="Text 17"/>
          <p:cNvSpPr txBox="1"/>
          <p:nvPr/>
        </p:nvSpPr>
        <p:spPr>
          <a:xfrm>
            <a:off x="548640" y="5806440"/>
            <a:ext cx="822960" cy="548640"/>
          </a:xfrm>
          <a:prstGeom prst="rect">
            <a:avLst/>
          </a:prstGeom>
          <a:noFill/>
          <a:ln/>
        </p:spPr>
        <p:txBody>
          <a:bodyPr wrap="square" rtlCol="0" anchor="ctr"/>
          <a:lstStyle/>
          <a:p>
            <a:pPr marL="0" indent="0">
              <a:buNone/>
            </a:pPr>
            <a:r>
              <a:rPr lang="en-US" sz="2400" b="1" dirty="0">
                <a:solidFill>
                  <a:srgbClr val="5B2C82"/>
                </a:solidFill>
                <a:latin typeface="Cambria" pitchFamily="34" charset="0"/>
                <a:ea typeface="Cambria" pitchFamily="34" charset="-122"/>
                <a:cs typeface="Cambria" pitchFamily="34" charset="-120"/>
              </a:rPr>
              <a:t>04</a:t>
            </a:r>
            <a:endParaRPr lang="en-US" sz="2400" dirty="0"/>
          </a:p>
        </p:txBody>
      </p:sp>
      <p:sp>
        <p:nvSpPr>
          <p:cNvPr id="20" name="Text 18"/>
          <p:cNvSpPr txBox="1"/>
          <p:nvPr/>
        </p:nvSpPr>
        <p:spPr>
          <a:xfrm>
            <a:off x="1325880" y="5788152"/>
            <a:ext cx="5029200" cy="365760"/>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Track ARPU vs. TAU as one pair, monthly</a:t>
            </a:r>
            <a:endParaRPr lang="en-US" sz="1450" dirty="0"/>
          </a:p>
        </p:txBody>
      </p:sp>
      <p:sp>
        <p:nvSpPr>
          <p:cNvPr id="21" name="Shape 19"/>
          <p:cNvSpPr/>
          <p:nvPr/>
        </p:nvSpPr>
        <p:spPr>
          <a:xfrm>
            <a:off x="1325880" y="6153912"/>
            <a:ext cx="1417320" cy="274320"/>
          </a:xfrm>
          <a:prstGeom prst="roundRect">
            <a:avLst>
              <a:gd name="adj" fmla="val 50000"/>
            </a:avLst>
          </a:prstGeom>
          <a:solidFill>
            <a:srgbClr val="5B2C82"/>
          </a:solidFill>
          <a:ln/>
        </p:spPr>
      </p:sp>
      <p:sp>
        <p:nvSpPr>
          <p:cNvPr id="22" name="Text 20"/>
          <p:cNvSpPr txBox="1"/>
          <p:nvPr/>
        </p:nvSpPr>
        <p:spPr>
          <a:xfrm>
            <a:off x="1325880" y="6153912"/>
            <a:ext cx="1417320" cy="274320"/>
          </a:xfrm>
          <a:prstGeom prst="rect">
            <a:avLst/>
          </a:prstGeom>
          <a:noFill/>
          <a:ln/>
        </p:spPr>
        <p:txBody>
          <a:bodyPr wrap="square" rtlCol="0" anchor="ctr"/>
          <a:lstStyle/>
          <a:p>
            <a:pPr marL="0" indent="0" algn="ctr">
              <a:buNone/>
            </a:pPr>
            <a:r>
              <a:rPr lang="en-US" sz="900" b="1" dirty="0">
                <a:solidFill>
                  <a:srgbClr val="E8A33D"/>
                </a:solidFill>
                <a:latin typeface="Calibri" pitchFamily="34" charset="0"/>
                <a:ea typeface="Calibri" pitchFamily="34" charset="-122"/>
                <a:cs typeface="Calibri" pitchFamily="34" charset="-120"/>
              </a:rPr>
              <a:t>Guardrail</a:t>
            </a:r>
            <a:endParaRPr lang="en-US" sz="900" dirty="0"/>
          </a:p>
        </p:txBody>
      </p:sp>
      <p:sp>
        <p:nvSpPr>
          <p:cNvPr id="23" name="Text 21"/>
          <p:cNvSpPr txBox="1"/>
          <p:nvPr/>
        </p:nvSpPr>
        <p:spPr>
          <a:xfrm>
            <a:off x="2926080" y="5788152"/>
            <a:ext cx="8732520" cy="1051560"/>
          </a:xfrm>
          <a:prstGeom prst="rect">
            <a:avLst/>
          </a:prstGeom>
          <a:noFill/>
          <a:ln/>
        </p:spPr>
        <p:txBody>
          <a:bodyPr wrap="square" rtlCol="0" anchor="ctr"/>
          <a:lstStyle/>
          <a:p>
            <a:pPr marL="0" indent="0">
              <a:lnSpc>
                <a:spcPct val="122000"/>
              </a:lnSpc>
              <a:buNone/>
            </a:pPr>
            <a:r>
              <a:rPr lang="en-US" sz="1200" dirty="0">
                <a:solidFill>
                  <a:srgbClr val="CBBBE5"/>
                </a:solidFill>
                <a:latin typeface="Calibri" pitchFamily="34" charset="0"/>
                <a:ea typeface="Calibri" pitchFamily="34" charset="-122"/>
                <a:cs typeface="Calibri" pitchFamily="34" charset="-120"/>
              </a:rPr>
              <a:t>Revenue is flat only because ARPU growth (+11%) is offsetting user loss. That trade-off has a ceiling — put ARPU and TAU on the same monthly scorecard so any future ARPU gains don't mask an unsustainable rate of user loss.</a:t>
            </a:r>
            <a:endParaRPr lang="en-US" sz="1200" dirty="0"/>
          </a:p>
        </p:txBody>
      </p:sp>
      <p:sp>
        <p:nvSpPr>
          <p:cNvPr id="24" name="Text 22"/>
          <p:cNvSpPr/>
          <p:nvPr/>
        </p:nvSpPr>
        <p:spPr>
          <a:xfrm>
            <a:off x="11475720" y="6492240"/>
            <a:ext cx="457200" cy="274320"/>
          </a:xfrm>
          <a:prstGeom prst="rect">
            <a:avLst/>
          </a:prstGeom>
          <a:noFill/>
          <a:ln/>
        </p:spPr>
        <p:txBody>
          <a:bodyPr wrap="square" rtlCol="0" anchor="ctr"/>
          <a:lstStyle/>
          <a:p>
            <a:pPr marL="0" indent="0" algn="r">
              <a:buNone/>
            </a:pPr>
            <a:r>
              <a:rPr lang="en-US" sz="1000" dirty="0">
                <a:solidFill>
                  <a:srgbClr val="6E6478"/>
                </a:solidFill>
                <a:latin typeface="Calibri" pitchFamily="34" charset="0"/>
                <a:ea typeface="Calibri" pitchFamily="34" charset="-122"/>
                <a:cs typeface="Calibri" pitchFamily="34" charset="-120"/>
              </a:rPr>
              <a:t>8</a:t>
            </a:r>
            <a:endParaRPr lang="en-US" sz="1000" dirty="0"/>
          </a:p>
        </p:txBody>
      </p:sp>
      <p:pic>
        <p:nvPicPr>
          <p:cNvPr id="27" name="Audio 26">
            <a:hlinkClick r:id="" action="ppaction://media"/>
            <a:extLst>
              <a:ext uri="{FF2B5EF4-FFF2-40B4-BE49-F238E27FC236}">
                <a16:creationId xmlns:a16="http://schemas.microsoft.com/office/drawing/2014/main" id="{399D3353-F429-A024-F474-42A3471BFB24}"/>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62704" t="-125896" r="-262704" b="-125896"/>
          <a:stretch>
            <a:fillRect/>
          </a:stretch>
        </p:blipFill>
        <p:spPr>
          <a:xfrm>
            <a:off x="9144000" y="5143500"/>
            <a:ext cx="3048000" cy="17145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481"/>
    </mc:Choice>
    <mc:Fallback>
      <p:transition spd="slow" advTm="3548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7"/>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176</TotalTime>
  <Words>877</Words>
  <Application>Microsoft Office PowerPoint</Application>
  <PresentationFormat>Widescreen</PresentationFormat>
  <Paragraphs>93</Paragraphs>
  <Slides>8</Slides>
  <Notes>8</Notes>
  <HiddenSlides>0</HiddenSlides>
  <MMClips>8</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harsha sharma</cp:lastModifiedBy>
  <cp:revision>5</cp:revision>
  <dcterms:created xsi:type="dcterms:W3CDTF">2026-08-27T08:21:38Z</dcterms:created>
  <dcterms:modified xsi:type="dcterms:W3CDTF">2026-08-27T13:08:08Z</dcterms:modified>
</cp:coreProperties>
</file>